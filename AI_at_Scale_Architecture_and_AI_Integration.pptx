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1097280"/>
            <a:ext cx="146304" cy="146304"/>
          </a:xfrm>
          <a:prstGeom prst="ellipse">
            <a:avLst/>
          </a:prstGeom>
          <a:solidFill>
            <a:srgbClr val="149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1645920"/>
            <a:ext cx="109728" cy="109728"/>
          </a:xfrm>
          <a:prstGeom prst="ellipse">
            <a:avLst/>
          </a:prstGeom>
          <a:solidFill>
            <a:srgbClr val="1D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18320" y="2286000"/>
            <a:ext cx="100584" cy="100584"/>
          </a:xfrm>
          <a:prstGeom prst="ellipse">
            <a:avLst/>
          </a:prstGeom>
          <a:solidFill>
            <a:srgbClr val="694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0" y="2743200"/>
            <a:ext cx="146304" cy="146304"/>
          </a:xfrm>
          <a:prstGeom prst="ellipse">
            <a:avLst/>
          </a:prstGeom>
          <a:solidFill>
            <a:srgbClr val="149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66960" y="3657600"/>
            <a:ext cx="118872" cy="118872"/>
          </a:xfrm>
          <a:prstGeom prst="ellipse">
            <a:avLst/>
          </a:prstGeom>
          <a:solidFill>
            <a:srgbClr val="1D70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155680" y="4297680"/>
            <a:ext cx="91440" cy="91440"/>
          </a:xfrm>
          <a:prstGeom prst="ellipse">
            <a:avLst/>
          </a:prstGeom>
          <a:solidFill>
            <a:srgbClr val="149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235440" y="4663440"/>
            <a:ext cx="146304" cy="146304"/>
          </a:xfrm>
          <a:prstGeom prst="ellipse">
            <a:avLst/>
          </a:prstGeom>
          <a:solidFill>
            <a:srgbClr val="6948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9857232" y="1243584"/>
            <a:ext cx="914400" cy="548640"/>
          </a:xfrm>
          <a:prstGeom prst="line">
            <a:avLst/>
          </a:prstGeom>
          <a:ln w="12700">
            <a:solidFill>
              <a:srgbClr val="326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491472" y="1792224"/>
            <a:ext cx="1280160" cy="585216"/>
          </a:xfrm>
          <a:prstGeom prst="line">
            <a:avLst/>
          </a:prstGeom>
          <a:ln w="12700">
            <a:solidFill>
              <a:srgbClr val="326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491472" y="2377440"/>
            <a:ext cx="1554480" cy="438912"/>
          </a:xfrm>
          <a:prstGeom prst="line">
            <a:avLst/>
          </a:prstGeom>
          <a:ln w="12700">
            <a:solidFill>
              <a:srgbClr val="326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040112" y="2816352"/>
            <a:ext cx="1005840" cy="914400"/>
          </a:xfrm>
          <a:prstGeom prst="line">
            <a:avLst/>
          </a:prstGeom>
          <a:ln w="12700">
            <a:solidFill>
              <a:srgbClr val="326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040112" y="3730752"/>
            <a:ext cx="1161288" cy="640080"/>
          </a:xfrm>
          <a:prstGeom prst="line">
            <a:avLst/>
          </a:prstGeom>
          <a:ln w="12700">
            <a:solidFill>
              <a:srgbClr val="326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>
            <a:off x="9308592" y="3730752"/>
            <a:ext cx="731520" cy="1005840"/>
          </a:xfrm>
          <a:prstGeom prst="line">
            <a:avLst/>
          </a:prstGeom>
          <a:ln w="12700">
            <a:solidFill>
              <a:srgbClr val="326E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7240" y="1143000"/>
            <a:ext cx="841248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Aptos"/>
              </a:defRPr>
            </a:pPr>
            <a:r>
              <a:t>AI at Scale</a:t>
            </a:r>
          </a:p>
          <a:p>
            <a:pPr>
              <a:spcBef>
                <a:spcPts val="800"/>
              </a:spcBef>
              <a:defRPr sz="1900">
                <a:solidFill>
                  <a:srgbClr val="C3D7E8"/>
                </a:solidFill>
                <a:latin typeface="Aptos"/>
              </a:defRPr>
            </a:pPr>
            <a:r>
              <a:t>Enterprise AI Architecture, Knowledge, Integration &amp; Responsible Scaling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" y="3200400"/>
            <a:ext cx="8046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E1E8F0"/>
                </a:solidFill>
                <a:latin typeface="Aptos"/>
              </a:defRPr>
            </a:pPr>
            <a:r>
              <a:t>A practical technical walkthrough of the provided World Bank Group AI at Scale presentation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530352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AAC8DC"/>
                </a:solidFill>
                <a:latin typeface="Aptos"/>
              </a:defRPr>
            </a:pPr>
            <a:r>
              <a:t>Source presentation • August 17,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82046"/>
                </a:solidFill>
                <a:latin typeface="Aptos"/>
              </a:defRPr>
            </a:pPr>
            <a:r>
              <a:t>Executive idea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5A626C"/>
                </a:solidFill>
                <a:latin typeface="Aptos"/>
              </a:defRPr>
            </a:pPr>
            <a:r>
              <a:t>What the presentation is trying to achieve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32004"/>
          </a:xfrm>
          <a:prstGeom prst="rect">
            <a:avLst/>
          </a:prstGeom>
          <a:solidFill>
            <a:srgbClr val="149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  <a:latin typeface="Aptos"/>
              </a:defRPr>
            </a:pPr>
            <a:r>
              <a:t>AI at Scale — based on the provided World Bank Group presentation (Aug. 17, 2026)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3474720" cy="1920240"/>
          </a:xfrm>
          <a:prstGeom prst="roundRect">
            <a:avLst/>
          </a:prstGeom>
          <a:solidFill>
            <a:srgbClr val="F3F5F7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The problem</a:t>
            </a:r>
          </a:p>
          <a:p>
            <a:pPr>
              <a:spcBef>
                <a:spcPts val="500"/>
              </a:spcBef>
              <a:defRPr sz="1250">
                <a:solidFill>
                  <a:srgbClr val="191E23"/>
                </a:solidFill>
                <a:latin typeface="Aptos"/>
              </a:defRPr>
            </a:pPr>
            <a:r>
              <a:t>Enterprise data is fragmented, AI-readiness is uneven, and governance/trust are essential.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417320"/>
            <a:ext cx="3474720" cy="1920240"/>
          </a:xfrm>
          <a:prstGeom prst="roundRect">
            <a:avLst/>
          </a:prstGeom>
          <a:solidFill>
            <a:srgbClr val="E1F0F9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The approach</a:t>
            </a:r>
          </a:p>
          <a:p>
            <a:pPr>
              <a:spcBef>
                <a:spcPts val="500"/>
              </a:spcBef>
              <a:defRPr sz="1250">
                <a:solidFill>
                  <a:srgbClr val="191E23"/>
                </a:solidFill>
                <a:latin typeface="Aptos"/>
              </a:defRPr>
            </a:pPr>
            <a:r>
              <a:t>Build reusable AI capabilities, a governed integration backbone, and trusted AI-ready data.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47304" y="1417320"/>
            <a:ext cx="3474720" cy="1920240"/>
          </a:xfrm>
          <a:prstGeom prst="roundRect">
            <a:avLst/>
          </a:prstGeom>
          <a:solidFill>
            <a:srgbClr val="E8F4E1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The outcome</a:t>
            </a:r>
          </a:p>
          <a:p>
            <a:pPr>
              <a:spcBef>
                <a:spcPts val="500"/>
              </a:spcBef>
              <a:defRPr sz="1250">
                <a:solidFill>
                  <a:srgbClr val="191E23"/>
                </a:solidFill>
                <a:latin typeface="Aptos"/>
              </a:defRPr>
            </a:pPr>
            <a:r>
              <a:t>AI becomes embedded in products, services, workflows and decisions.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977639"/>
            <a:ext cx="2468880" cy="914400"/>
          </a:xfrm>
          <a:prstGeom prst="roundRect">
            <a:avLst/>
          </a:prstGeom>
          <a:solidFill>
            <a:srgbClr val="F3F5F7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82046"/>
                </a:solidFill>
                <a:latin typeface="Aptos"/>
              </a:defRPr>
            </a:pPr>
            <a:r>
              <a:t>Data silos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611880" y="4434840"/>
            <a:ext cx="640080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297680" y="3977639"/>
            <a:ext cx="2743200" cy="914400"/>
          </a:xfrm>
          <a:prstGeom prst="roundRect">
            <a:avLst/>
          </a:prstGeom>
          <a:solidFill>
            <a:srgbClr val="E1F0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82046"/>
                </a:solidFill>
                <a:latin typeface="Aptos"/>
              </a:defRPr>
            </a:pPr>
            <a:r>
              <a:t>AI-ready foundation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086600" y="4434840"/>
            <a:ext cx="640079" cy="0"/>
          </a:xfrm>
          <a:prstGeom prst="line">
            <a:avLst/>
          </a:prstGeom>
          <a:ln w="254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772400" y="3977639"/>
            <a:ext cx="3108960" cy="914400"/>
          </a:xfrm>
          <a:prstGeom prst="roundRect">
            <a:avLst/>
          </a:prstGeom>
          <a:solidFill>
            <a:srgbClr val="E8F4E1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82046"/>
                </a:solidFill>
                <a:latin typeface="Aptos"/>
              </a:defRPr>
            </a:pPr>
            <a:r>
              <a:t>Trusted AI at scale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8640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082046"/>
                </a:solidFill>
                <a:latin typeface="Aptos"/>
              </a:defRPr>
            </a:pPr>
            <a:r>
              <a:t>Key principle: AI at Scale is an enterprise capability model—not a single chatbot or LLM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82046"/>
                </a:solidFill>
                <a:latin typeface="Aptos"/>
              </a:defRPr>
            </a:pPr>
            <a:r>
              <a:t>Challenges → strategic opportunities → business value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32004"/>
          </a:xfrm>
          <a:prstGeom prst="rect">
            <a:avLst/>
          </a:prstGeom>
          <a:solidFill>
            <a:srgbClr val="149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  <a:latin typeface="Aptos"/>
              </a:defRPr>
            </a:pPr>
            <a:r>
              <a:t>AI at Scale — based on the provided World Bank Group presentation (Aug. 17,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3246120" cy="4526280"/>
          </a:xfrm>
          <a:prstGeom prst="roundRect">
            <a:avLst/>
          </a:prstGeom>
          <a:solidFill>
            <a:srgbClr val="F3F5F7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609344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2046"/>
                </a:solidFill>
                <a:latin typeface="Aptos"/>
              </a:defRPr>
            </a:pPr>
            <a:r>
              <a:t>CHALLENGES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148840"/>
            <a:ext cx="2880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191E23"/>
                </a:solidFill>
                <a:latin typeface="Aptos"/>
              </a:defRPr>
            </a:pPr>
            <a:r>
              <a:t>Fragmented data, silos, AI-ready information gaps</a:t>
            </a:r>
          </a:p>
          <a:p>
            <a:pPr>
              <a:spcAft>
                <a:spcPts val="700"/>
              </a:spcAft>
              <a:defRPr sz="1250">
                <a:solidFill>
                  <a:srgbClr val="191E23"/>
                </a:solidFill>
                <a:latin typeface="Aptos"/>
              </a:defRPr>
            </a:pPr>
            <a:r>
              <a:t>Governance, risk, privacy and trust</a:t>
            </a:r>
          </a:p>
          <a:p>
            <a:pPr>
              <a:spcAft>
                <a:spcPts val="700"/>
              </a:spcAft>
              <a:defRPr sz="1250">
                <a:solidFill>
                  <a:srgbClr val="191E23"/>
                </a:solidFill>
                <a:latin typeface="Aptos"/>
              </a:defRPr>
            </a:pPr>
            <a:r>
              <a:t>Data &amp; AI literacy/adoption barriers</a:t>
            </a:r>
          </a:p>
          <a:p>
            <a:pPr>
              <a:spcAft>
                <a:spcPts val="700"/>
              </a:spcAft>
              <a:defRPr sz="1250">
                <a:solidFill>
                  <a:srgbClr val="191E23"/>
                </a:solidFill>
                <a:latin typeface="Aptos"/>
              </a:defRPr>
            </a:pPr>
            <a:r>
              <a:t>Operationalization, scaling and value realization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24528" y="1417320"/>
            <a:ext cx="3246120" cy="4526280"/>
          </a:xfrm>
          <a:prstGeom prst="roundRect">
            <a:avLst/>
          </a:prstGeom>
          <a:solidFill>
            <a:srgbClr val="E1F0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609344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2046"/>
                </a:solidFill>
                <a:latin typeface="Aptos"/>
              </a:defRPr>
            </a:pPr>
            <a:r>
              <a:t>STRATEGIC OPPORTUNITIES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148840"/>
            <a:ext cx="2880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191E23"/>
                </a:solidFill>
                <a:latin typeface="Aptos"/>
              </a:defRPr>
            </a:pPr>
            <a:r>
              <a:t>Reusable AI capability provider</a:t>
            </a:r>
          </a:p>
          <a:p>
            <a:pPr>
              <a:spcAft>
                <a:spcPts val="700"/>
              </a:spcAft>
              <a:defRPr sz="1250">
                <a:solidFill>
                  <a:srgbClr val="191E23"/>
                </a:solidFill>
                <a:latin typeface="Aptos"/>
              </a:defRPr>
            </a:pPr>
            <a:r>
              <a:t>Bridge business needs and AI innovation</a:t>
            </a:r>
          </a:p>
          <a:p>
            <a:pPr>
              <a:spcAft>
                <a:spcPts val="700"/>
              </a:spcAft>
              <a:defRPr sz="1250">
                <a:solidFill>
                  <a:srgbClr val="191E23"/>
                </a:solidFill>
                <a:latin typeface="Aptos"/>
              </a:defRPr>
            </a:pPr>
            <a:r>
              <a:t>Integrated governance and scaling function</a:t>
            </a:r>
          </a:p>
          <a:p>
            <a:pPr>
              <a:spcAft>
                <a:spcPts val="700"/>
              </a:spcAft>
              <a:defRPr sz="1250">
                <a:solidFill>
                  <a:srgbClr val="191E23"/>
                </a:solidFill>
                <a:latin typeface="Aptos"/>
              </a:defRPr>
            </a:pPr>
            <a:r>
              <a:t>Workflow automation with next-generation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54696" y="1417320"/>
            <a:ext cx="3246120" cy="4526280"/>
          </a:xfrm>
          <a:prstGeom prst="roundRect">
            <a:avLst/>
          </a:prstGeom>
          <a:solidFill>
            <a:srgbClr val="E8F4E1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19288" y="1609344"/>
            <a:ext cx="2926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82046"/>
                </a:solidFill>
                <a:latin typeface="Aptos"/>
              </a:defRPr>
            </a:pPr>
            <a:r>
              <a:t>BUSINESS VALUE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19288" y="2148840"/>
            <a:ext cx="28803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50">
                <a:solidFill>
                  <a:srgbClr val="191E23"/>
                </a:solidFill>
                <a:latin typeface="Aptos"/>
              </a:defRPr>
            </a:pPr>
            <a:r>
              <a:t>Increase workforce productivity</a:t>
            </a:r>
          </a:p>
          <a:p>
            <a:pPr>
              <a:spcAft>
                <a:spcPts val="700"/>
              </a:spcAft>
              <a:defRPr sz="1250">
                <a:solidFill>
                  <a:srgbClr val="191E23"/>
                </a:solidFill>
                <a:latin typeface="Aptos"/>
              </a:defRPr>
            </a:pPr>
            <a:r>
              <a:t>Accelerate decision-making</a:t>
            </a:r>
          </a:p>
          <a:p>
            <a:pPr>
              <a:spcAft>
                <a:spcPts val="700"/>
              </a:spcAft>
              <a:defRPr sz="1250">
                <a:solidFill>
                  <a:srgbClr val="191E23"/>
                </a:solidFill>
                <a:latin typeface="Aptos"/>
              </a:defRPr>
            </a:pPr>
            <a:r>
              <a:t>Improve data discoverability and reuse</a:t>
            </a:r>
          </a:p>
          <a:p>
            <a:pPr>
              <a:spcAft>
                <a:spcPts val="700"/>
              </a:spcAft>
              <a:defRPr sz="1250">
                <a:solidFill>
                  <a:srgbClr val="191E23"/>
                </a:solidFill>
                <a:latin typeface="Aptos"/>
              </a:defRPr>
            </a:pPr>
            <a:r>
              <a:t>Scale trusted, governed AI</a:t>
            </a:r>
          </a:p>
          <a:p>
            <a:pPr>
              <a:spcAft>
                <a:spcPts val="700"/>
              </a:spcAft>
              <a:defRPr sz="1250">
                <a:solidFill>
                  <a:srgbClr val="191E23"/>
                </a:solidFill>
                <a:latin typeface="Aptos"/>
              </a:defRPr>
            </a:pPr>
            <a:r>
              <a:t>Reduce operational cost and risk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840480" y="3657600"/>
            <a:ext cx="320040" cy="0"/>
          </a:xfrm>
          <a:prstGeom prst="line">
            <a:avLst/>
          </a:prstGeom>
          <a:ln w="3810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470648" y="3657600"/>
            <a:ext cx="320040" cy="0"/>
          </a:xfrm>
          <a:prstGeom prst="line">
            <a:avLst/>
          </a:prstGeom>
          <a:ln w="3810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Mission &amp; North Star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32004"/>
          </a:xfrm>
          <a:prstGeom prst="rect">
            <a:avLst/>
          </a:prstGeom>
          <a:solidFill>
            <a:srgbClr val="149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  <a:latin typeface="Aptos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25880"/>
            <a:ext cx="5257800" cy="1828800"/>
          </a:xfrm>
          <a:prstGeom prst="roundRect">
            <a:avLst/>
          </a:prstGeom>
          <a:solidFill>
            <a:srgbClr val="12355E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MISSION</a:t>
            </a:r>
          </a:p>
          <a:p>
            <a:pPr>
              <a:spcBef>
                <a:spcPts val="500"/>
              </a:spcBef>
              <a:defRPr sz="1400">
                <a:solidFill>
                  <a:srgbClr val="191E23"/>
                </a:solidFill>
                <a:latin typeface="Aptos"/>
              </a:defRPr>
            </a:pPr>
            <a:r>
              <a:t>Leverage AI to accelerate and sustain development impact and build AI as a strategic capability that enhances organizational work.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257800" cy="1828800"/>
          </a:xfrm>
          <a:prstGeom prst="roundRect">
            <a:avLst/>
          </a:prstGeom>
          <a:solidFill>
            <a:srgbClr val="12355E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NORTH STAR</a:t>
            </a:r>
          </a:p>
          <a:p>
            <a:pPr>
              <a:spcBef>
                <a:spcPts val="500"/>
              </a:spcBef>
              <a:defRPr sz="1320">
                <a:solidFill>
                  <a:srgbClr val="191E23"/>
                </a:solidFill>
                <a:latin typeface="Aptos"/>
              </a:defRPr>
            </a:pPr>
            <a:r>
              <a:t>Integrate trusted, responsible, evidence-driven AI capabilities/features into WBG products, services, workflows and decisions using AI-ready data, information and knowledge assets.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023360"/>
            <a:ext cx="3108960" cy="960120"/>
          </a:xfrm>
          <a:prstGeom prst="roundRect">
            <a:avLst/>
          </a:prstGeom>
          <a:solidFill>
            <a:srgbClr val="14416E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Enterprise Data &amp;</a:t>
            </a:r>
            <a:br/>
            <a:r>
              <a:t>Information Repository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4023360"/>
            <a:ext cx="3108960" cy="960120"/>
          </a:xfrm>
          <a:prstGeom prst="roundRect">
            <a:avLst/>
          </a:prstGeom>
          <a:solidFill>
            <a:srgbClr val="14416E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Data &amp; AI 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4023360"/>
            <a:ext cx="3108960" cy="960120"/>
          </a:xfrm>
          <a:prstGeom prst="roundRect">
            <a:avLst/>
          </a:prstGeom>
          <a:solidFill>
            <a:srgbClr val="14416E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AI at Scale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069080" y="4498848"/>
            <a:ext cx="411480" cy="0"/>
          </a:xfrm>
          <a:prstGeom prst="line">
            <a:avLst/>
          </a:prstGeom>
          <a:ln w="25400">
            <a:solidFill>
              <a:srgbClr val="96C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680960" y="4498848"/>
            <a:ext cx="411480" cy="0"/>
          </a:xfrm>
          <a:prstGeom prst="line">
            <a:avLst/>
          </a:prstGeom>
          <a:ln w="25400">
            <a:solidFill>
              <a:srgbClr val="96C8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400" y="553212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DDCEB"/>
                </a:solidFill>
                <a:latin typeface="Aptos"/>
              </a:defRPr>
            </a:pPr>
            <a:r>
              <a:t>Lean governance spans the lifecycle; integration, capabilities, digital experience and feedback connect the layers.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82046"/>
                </a:solidFill>
                <a:latin typeface="Aptos"/>
              </a:defRPr>
            </a:pPr>
            <a:r>
              <a:t>AI at Scale — capability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32004"/>
          </a:xfrm>
          <a:prstGeom prst="rect">
            <a:avLst/>
          </a:prstGeom>
          <a:solidFill>
            <a:srgbClr val="149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  <a:latin typeface="Aptos"/>
              </a:defRPr>
            </a:pPr>
            <a:r>
              <a:t>AI at Scale — based on the provided World Bank Group presentation (Aug. 17,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1325880"/>
            <a:ext cx="10241280" cy="658368"/>
          </a:xfrm>
          <a:prstGeom prst="roundRect">
            <a:avLst/>
          </a:prstGeom>
          <a:solidFill>
            <a:srgbClr val="E8F4E1"/>
          </a:solidFill>
          <a:ln>
            <a:solidFill>
              <a:srgbClr val="499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1250" b="1">
                <a:solidFill>
                  <a:srgbClr val="49912B"/>
                </a:solidFill>
                <a:latin typeface="Aptos"/>
              </a:defRPr>
            </a:pPr>
            <a:r>
              <a:t>AI-INTEGRATED PRODUCTS &amp; SERVICES</a:t>
            </a:r>
          </a:p>
          <a:p>
            <a:pPr>
              <a:spcBef>
                <a:spcPts val="200"/>
              </a:spcBef>
              <a:defRPr sz="969">
                <a:solidFill>
                  <a:srgbClr val="191E23"/>
                </a:solidFill>
                <a:latin typeface="Aptos"/>
              </a:defRPr>
            </a:pPr>
            <a:r>
              <a:t>Semantic search • Dynamic contextual insights • Personalized synthesizers • AI-ready assets • Agentic workbenches • Knowledge graphs • Conversational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2148840"/>
            <a:ext cx="10241280" cy="658368"/>
          </a:xfrm>
          <a:prstGeom prst="roundRect">
            <a:avLst/>
          </a:prstGeom>
          <a:solidFill>
            <a:srgbClr val="E1F0F9"/>
          </a:solidFill>
          <a:ln>
            <a:solidFill>
              <a:srgbClr val="1D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1250" b="1">
                <a:solidFill>
                  <a:srgbClr val="1D70AD"/>
                </a:solidFill>
                <a:latin typeface="Aptos"/>
              </a:defRPr>
            </a:pPr>
            <a:r>
              <a:t>ADAPTIVE USER EXPERIENCE</a:t>
            </a:r>
          </a:p>
          <a:p>
            <a:pPr>
              <a:spcBef>
                <a:spcPts val="200"/>
              </a:spcBef>
              <a:defRPr sz="969">
                <a:solidFill>
                  <a:srgbClr val="191E23"/>
                </a:solidFill>
                <a:latin typeface="Aptos"/>
              </a:defRPr>
            </a:pPr>
            <a:r>
              <a:t>Role-based experiences • Context-aware personalization • Adaptive UI • Multi-agent orchestration • AG-UI / A2UI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971800"/>
            <a:ext cx="10241280" cy="658368"/>
          </a:xfrm>
          <a:prstGeom prst="roundRect">
            <a:avLst/>
          </a:prstGeom>
          <a:solidFill>
            <a:srgbClr val="EEE8F9"/>
          </a:solidFill>
          <a:ln>
            <a:solidFill>
              <a:srgbClr val="694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1250" b="1">
                <a:solidFill>
                  <a:srgbClr val="6948A1"/>
                </a:solidFill>
                <a:latin typeface="Aptos"/>
              </a:defRPr>
            </a:pPr>
            <a:r>
              <a:t>AI CAPABILITIES</a:t>
            </a:r>
          </a:p>
          <a:p>
            <a:pPr>
              <a:spcBef>
                <a:spcPts val="200"/>
              </a:spcBef>
              <a:defRPr sz="969">
                <a:solidFill>
                  <a:srgbClr val="191E23"/>
                </a:solidFill>
                <a:latin typeface="Aptos"/>
              </a:defRPr>
            </a:pPr>
            <a:r>
              <a:t>Accelerators • Enablers • Catalysts • Semantic layer • Context layer • Domain-specific AI • Autonomous reasoning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3794760"/>
            <a:ext cx="10241280" cy="658368"/>
          </a:xfrm>
          <a:prstGeom prst="roundRect">
            <a:avLst/>
          </a:prstGeom>
          <a:solidFill>
            <a:srgbClr val="E1F6F4"/>
          </a:solidFill>
          <a:ln>
            <a:solidFill>
              <a:srgbClr val="149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1250" b="1">
                <a:solidFill>
                  <a:srgbClr val="14919A"/>
                </a:solidFill>
                <a:latin typeface="Aptos"/>
              </a:defRPr>
            </a:pPr>
            <a:r>
              <a:t>INTEGRATION BACKBONE</a:t>
            </a:r>
          </a:p>
          <a:p>
            <a:pPr>
              <a:spcBef>
                <a:spcPts val="200"/>
              </a:spcBef>
              <a:defRPr sz="969">
                <a:solidFill>
                  <a:srgbClr val="191E23"/>
                </a:solidFill>
                <a:latin typeface="Aptos"/>
              </a:defRPr>
            </a:pPr>
            <a:r>
              <a:t>APIs • Connectors • Events • MCP • Orchestration • Unified integration fabric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" y="4617720"/>
            <a:ext cx="10241280" cy="658368"/>
          </a:xfrm>
          <a:prstGeom prst="roundRect">
            <a:avLst/>
          </a:prstGeom>
          <a:solidFill>
            <a:srgbClr val="F3F5F7"/>
          </a:solidFill>
          <a:ln>
            <a:solidFill>
              <a:srgbClr val="0820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1250" b="1">
                <a:solidFill>
                  <a:srgbClr val="082046"/>
                </a:solidFill>
                <a:latin typeface="Aptos"/>
              </a:defRPr>
            </a:pPr>
            <a:r>
              <a:t>AI-READY DATA &amp; INFORMATION</a:t>
            </a:r>
          </a:p>
          <a:p>
            <a:pPr>
              <a:spcBef>
                <a:spcPts val="200"/>
              </a:spcBef>
              <a:defRPr sz="969">
                <a:solidFill>
                  <a:srgbClr val="191E23"/>
                </a:solidFill>
                <a:latin typeface="Aptos"/>
              </a:defRPr>
            </a:pPr>
            <a:r>
              <a:t>Structured • Semi-structured • Unstructured • Trusted • Governed • Context-rich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" y="2011680"/>
            <a:ext cx="530352" cy="3246120"/>
          </a:xfrm>
          <a:prstGeom prst="roundRect">
            <a:avLst/>
          </a:prstGeom>
          <a:solidFill>
            <a:srgbClr val="F3F5F7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2046"/>
                </a:solidFill>
                <a:latin typeface="Aptos"/>
              </a:defRPr>
            </a:pPr>
            <a:r>
              <a:t>GOVERNANCE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0" y="2011680"/>
            <a:ext cx="685800" cy="3246120"/>
          </a:xfrm>
          <a:prstGeom prst="roundRect">
            <a:avLst/>
          </a:prstGeom>
          <a:solidFill>
            <a:srgbClr val="F3F5F7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082046"/>
                </a:solidFill>
                <a:latin typeface="Aptos"/>
              </a:defRPr>
            </a:pPr>
            <a:r>
              <a:t>FEEDBACK</a:t>
            </a:r>
            <a:br/>
            <a:r>
              <a:t>LOOP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82046"/>
                </a:solidFill>
                <a:latin typeface="Aptos"/>
              </a:defRPr>
            </a:pPr>
            <a:r>
              <a:t>The four-stage capability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32004"/>
          </a:xfrm>
          <a:prstGeom prst="rect">
            <a:avLst/>
          </a:prstGeom>
          <a:solidFill>
            <a:srgbClr val="149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  <a:latin typeface="Aptos"/>
              </a:defRPr>
            </a:pPr>
            <a:r>
              <a:t>AI at Scale — based on the provided World Bank Group presentation (Aug. 17,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17320"/>
            <a:ext cx="2560320" cy="4480560"/>
          </a:xfrm>
          <a:prstGeom prst="roundRect">
            <a:avLst/>
          </a:prstGeom>
          <a:solidFill>
            <a:srgbClr val="E1F0F9"/>
          </a:solidFill>
          <a:ln>
            <a:solidFill>
              <a:srgbClr val="1D70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64208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D70AD"/>
                </a:solidFill>
                <a:latin typeface="Aptos"/>
              </a:defRPr>
            </a:pPr>
            <a:r>
              <a:t>1. 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240280"/>
            <a:ext cx="2148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82046"/>
                </a:solidFill>
                <a:latin typeface="Aptos"/>
              </a:defRPr>
            </a:pPr>
            <a:r>
              <a:t>Build trusted AI foundations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246120"/>
            <a:ext cx="2148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91E23"/>
                </a:solidFill>
                <a:latin typeface="Aptos"/>
              </a:defRPr>
            </a:pPr>
            <a:r>
              <a:t>AI-ready knowledge assets</a:t>
            </a:r>
          </a:p>
          <a:p>
            <a:pPr>
              <a:spcAft>
                <a:spcPts val="700"/>
              </a:spcAft>
              <a:defRPr sz="1150">
                <a:solidFill>
                  <a:srgbClr val="191E23"/>
                </a:solidFill>
                <a:latin typeface="Aptos"/>
              </a:defRPr>
            </a:pPr>
            <a:r>
              <a:t>AI-readiness assessment</a:t>
            </a:r>
          </a:p>
          <a:p>
            <a:pPr>
              <a:spcAft>
                <a:spcPts val="700"/>
              </a:spcAft>
              <a:defRPr sz="1150">
                <a:solidFill>
                  <a:srgbClr val="191E23"/>
                </a:solidFill>
                <a:latin typeface="Aptos"/>
              </a:defRPr>
            </a:pPr>
            <a:r>
              <a:t>Responsible AI guardrails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81528" y="3657600"/>
            <a:ext cx="237744" cy="0"/>
          </a:xfrm>
          <a:prstGeom prst="line">
            <a:avLst/>
          </a:prstGeom>
          <a:ln w="3175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83280" y="1417320"/>
            <a:ext cx="2560320" cy="4480560"/>
          </a:xfrm>
          <a:prstGeom prst="roundRect">
            <a:avLst/>
          </a:prstGeom>
          <a:solidFill>
            <a:srgbClr val="E1F6F4"/>
          </a:solidFill>
          <a:ln>
            <a:solidFill>
              <a:srgbClr val="1491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664208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4919A"/>
                </a:solidFill>
                <a:latin typeface="Aptos"/>
              </a:defRPr>
            </a:pPr>
            <a:r>
              <a:t>2. INTEGRATE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240280"/>
            <a:ext cx="2148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82046"/>
                </a:solidFill>
                <a:latin typeface="Aptos"/>
              </a:defRPr>
            </a:pPr>
            <a:r>
              <a:t>Connect knowledge and workflows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246120"/>
            <a:ext cx="2148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91E23"/>
                </a:solidFill>
                <a:latin typeface="Aptos"/>
              </a:defRPr>
            </a:pPr>
            <a:r>
              <a:t>Semantic/model-context services</a:t>
            </a:r>
          </a:p>
          <a:p>
            <a:pPr>
              <a:spcAft>
                <a:spcPts val="700"/>
              </a:spcAft>
              <a:defRPr sz="1150">
                <a:solidFill>
                  <a:srgbClr val="191E23"/>
                </a:solidFill>
                <a:latin typeface="Aptos"/>
              </a:defRPr>
            </a:pPr>
            <a:r>
              <a:t>Knowledge graphs</a:t>
            </a:r>
          </a:p>
          <a:p>
            <a:pPr>
              <a:spcAft>
                <a:spcPts val="700"/>
              </a:spcAft>
              <a:defRPr sz="1150">
                <a:solidFill>
                  <a:srgbClr val="191E23"/>
                </a:solidFill>
                <a:latin typeface="Aptos"/>
              </a:defRPr>
            </a:pPr>
            <a:r>
              <a:t>Reusable APIs, events and context sharing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61888" y="3657600"/>
            <a:ext cx="237744" cy="0"/>
          </a:xfrm>
          <a:prstGeom prst="line">
            <a:avLst/>
          </a:prstGeom>
          <a:ln w="3175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63640" y="1417320"/>
            <a:ext cx="2560320" cy="4480560"/>
          </a:xfrm>
          <a:prstGeom prst="roundRect">
            <a:avLst/>
          </a:prstGeom>
          <a:solidFill>
            <a:srgbClr val="EEE8F9"/>
          </a:solidFill>
          <a:ln>
            <a:solidFill>
              <a:srgbClr val="6948A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664208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6948A1"/>
                </a:solidFill>
                <a:latin typeface="Aptos"/>
              </a:defRPr>
            </a:pPr>
            <a:r>
              <a:t>3. OPTIMIZE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2240280"/>
            <a:ext cx="2148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82046"/>
                </a:solidFill>
                <a:latin typeface="Aptos"/>
              </a:defRPr>
            </a:pPr>
            <a:r>
              <a:t>Improve intelligence and outcomes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246120"/>
            <a:ext cx="2148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91E23"/>
                </a:solidFill>
                <a:latin typeface="Aptos"/>
              </a:defRPr>
            </a:pPr>
            <a:r>
              <a:t>Grounded reasoning &amp; evaluation</a:t>
            </a:r>
          </a:p>
          <a:p>
            <a:pPr>
              <a:spcAft>
                <a:spcPts val="700"/>
              </a:spcAft>
              <a:defRPr sz="1150">
                <a:solidFill>
                  <a:srgbClr val="191E23"/>
                </a:solidFill>
                <a:latin typeface="Aptos"/>
              </a:defRPr>
            </a:pPr>
            <a:r>
              <a:t>AI assistants in workflows</a:t>
            </a:r>
          </a:p>
          <a:p>
            <a:pPr>
              <a:spcAft>
                <a:spcPts val="700"/>
              </a:spcAft>
              <a:defRPr sz="1150">
                <a:solidFill>
                  <a:srgbClr val="191E23"/>
                </a:solidFill>
                <a:latin typeface="Aptos"/>
              </a:defRPr>
            </a:pPr>
            <a:r>
              <a:t>Reusable intelligence services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842248" y="3657600"/>
            <a:ext cx="237744" cy="0"/>
          </a:xfrm>
          <a:prstGeom prst="line">
            <a:avLst/>
          </a:prstGeom>
          <a:ln w="3175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144000" y="1417320"/>
            <a:ext cx="2560320" cy="4480560"/>
          </a:xfrm>
          <a:prstGeom prst="roundRect">
            <a:avLst/>
          </a:prstGeom>
          <a:solidFill>
            <a:srgbClr val="E8F4E1"/>
          </a:solidFill>
          <a:ln>
            <a:solidFill>
              <a:srgbClr val="499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664208"/>
            <a:ext cx="2194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49912B"/>
                </a:solidFill>
                <a:latin typeface="Aptos"/>
              </a:defRPr>
            </a:pPr>
            <a:r>
              <a:t>4. 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2240280"/>
            <a:ext cx="214884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82046"/>
                </a:solidFill>
                <a:latin typeface="Aptos"/>
              </a:defRPr>
            </a:pPr>
            <a:r>
              <a:t>Expand enterprise AI impact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26880" y="3246120"/>
            <a:ext cx="21488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191E23"/>
                </a:solidFill>
                <a:latin typeface="Aptos"/>
              </a:defRPr>
            </a:pPr>
            <a:r>
              <a:t>Enterprise copilots</a:t>
            </a:r>
          </a:p>
          <a:p>
            <a:pPr>
              <a:spcAft>
                <a:spcPts val="700"/>
              </a:spcAft>
              <a:defRPr sz="1150">
                <a:solidFill>
                  <a:srgbClr val="191E23"/>
                </a:solidFill>
                <a:latin typeface="Aptos"/>
              </a:defRPr>
            </a:pPr>
            <a:r>
              <a:t>Domain AI agents</a:t>
            </a:r>
          </a:p>
          <a:p>
            <a:pPr>
              <a:spcAft>
                <a:spcPts val="700"/>
              </a:spcAft>
              <a:defRPr sz="1150">
                <a:solidFill>
                  <a:srgbClr val="191E23"/>
                </a:solidFill>
                <a:latin typeface="Aptos"/>
              </a:defRPr>
            </a:pPr>
            <a:r>
              <a:t>Agent-to-system / agent-to-agent collaboration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82046"/>
                </a:solidFill>
                <a:latin typeface="Aptos"/>
              </a:defRPr>
            </a:pPr>
            <a:r>
              <a:t>AI-ready data: what it actually means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32004"/>
          </a:xfrm>
          <a:prstGeom prst="rect">
            <a:avLst/>
          </a:prstGeom>
          <a:solidFill>
            <a:srgbClr val="149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  <a:latin typeface="Aptos"/>
              </a:defRPr>
            </a:pPr>
            <a:r>
              <a:t>AI at Scale — based on the provided World Bank Group presentation (Aug. 17,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103120" cy="914400"/>
          </a:xfrm>
          <a:prstGeom prst="roundRect">
            <a:avLst/>
          </a:prstGeom>
          <a:solidFill>
            <a:srgbClr val="F3F5F7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82046"/>
                </a:solidFill>
                <a:latin typeface="Aptos"/>
              </a:defRPr>
            </a:pPr>
            <a:r>
              <a:t>RAW ASSET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34640" y="1874519"/>
            <a:ext cx="411480" cy="0"/>
          </a:xfrm>
          <a:prstGeom prst="line">
            <a:avLst/>
          </a:prstGeom>
          <a:ln w="3175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91840" y="1417320"/>
            <a:ext cx="2103120" cy="914400"/>
          </a:xfrm>
          <a:prstGeom prst="roundRect">
            <a:avLst/>
          </a:prstGeom>
          <a:solidFill>
            <a:srgbClr val="E1F0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82046"/>
                </a:solidFill>
                <a:latin typeface="Aptos"/>
              </a:defRPr>
            </a:pPr>
            <a:r>
              <a:t>ASSESS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40680" y="1874519"/>
            <a:ext cx="411480" cy="0"/>
          </a:xfrm>
          <a:prstGeom prst="line">
            <a:avLst/>
          </a:prstGeom>
          <a:ln w="3175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897880" y="1417320"/>
            <a:ext cx="2103120" cy="914400"/>
          </a:xfrm>
          <a:prstGeom prst="roundRect">
            <a:avLst/>
          </a:prstGeom>
          <a:solidFill>
            <a:srgbClr val="E1F6F4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82046"/>
                </a:solidFill>
                <a:latin typeface="Aptos"/>
              </a:defRPr>
            </a:pPr>
            <a:r>
              <a:t>ENRICH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46720" y="1874519"/>
            <a:ext cx="411480" cy="0"/>
          </a:xfrm>
          <a:prstGeom prst="line">
            <a:avLst/>
          </a:prstGeom>
          <a:ln w="3175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503920" y="1417320"/>
            <a:ext cx="2743200" cy="914400"/>
          </a:xfrm>
          <a:prstGeom prst="roundRect">
            <a:avLst/>
          </a:prstGeom>
          <a:solidFill>
            <a:srgbClr val="E8F4E1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82046"/>
                </a:solidFill>
                <a:latin typeface="Aptos"/>
              </a:defRPr>
            </a:pPr>
            <a:r>
              <a:t>AI-READY ASSET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2880360"/>
            <a:ext cx="25146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880360"/>
            <a:ext cx="25146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Metadata completeness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880360"/>
            <a:ext cx="25146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Taxonomy / ontology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59" y="2880360"/>
            <a:ext cx="25146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Ownership &amp; access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23360"/>
            <a:ext cx="25146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Lineage / provenance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474720" y="4023360"/>
            <a:ext cx="25146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Semantic richness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023360"/>
            <a:ext cx="25146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Embedding suitability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59" y="4023360"/>
            <a:ext cx="2514600" cy="8686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Trust / governance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49240"/>
            <a:ext cx="10424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AI-ready ≠ “stored in a vector database”. It means the asset has enough quality, context, metadata and governance to support trustworthy AI use.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82046"/>
                </a:solidFill>
                <a:latin typeface="Aptos"/>
              </a:defRPr>
            </a:pPr>
            <a:r>
              <a:t>AI integration architecture — end to end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32004"/>
          </a:xfrm>
          <a:prstGeom prst="rect">
            <a:avLst/>
          </a:prstGeom>
          <a:solidFill>
            <a:srgbClr val="149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  <a:latin typeface="Aptos"/>
              </a:defRPr>
            </a:pPr>
            <a:r>
              <a:t>AI at Scale — based on the provided World Bank Group presentation (Aug. 17,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1234440" cy="640080"/>
          </a:xfrm>
          <a:prstGeom prst="roundRect">
            <a:avLst/>
          </a:prstGeom>
          <a:solidFill>
            <a:srgbClr val="F3F5F7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2046"/>
                </a:solidFill>
                <a:latin typeface="Aptos"/>
              </a:defRPr>
            </a:pPr>
            <a:r>
              <a:t>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65960" y="1371600"/>
            <a:ext cx="1234440" cy="640080"/>
          </a:xfrm>
          <a:prstGeom prst="roundRect">
            <a:avLst/>
          </a:prstGeom>
          <a:solidFill>
            <a:srgbClr val="F3F5F7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2046"/>
                </a:solidFill>
                <a:latin typeface="Aptos"/>
              </a:defRPr>
            </a:pPr>
            <a:r>
              <a:t>Web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371600"/>
            <a:ext cx="1234440" cy="640080"/>
          </a:xfrm>
          <a:prstGeom prst="roundRect">
            <a:avLst/>
          </a:prstGeom>
          <a:solidFill>
            <a:srgbClr val="F3F5F7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2046"/>
                </a:solidFill>
                <a:latin typeface="Aptos"/>
              </a:defRPr>
            </a:pPr>
            <a:r>
              <a:t>Databases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1371600"/>
            <a:ext cx="1234440" cy="640080"/>
          </a:xfrm>
          <a:prstGeom prst="roundRect">
            <a:avLst/>
          </a:prstGeom>
          <a:solidFill>
            <a:srgbClr val="F3F5F7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2046"/>
                </a:solidFill>
                <a:latin typeface="Aptos"/>
              </a:defRPr>
            </a:pPr>
            <a:r>
              <a:t>APIs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371600"/>
            <a:ext cx="1234440" cy="640080"/>
          </a:xfrm>
          <a:prstGeom prst="roundRect">
            <a:avLst/>
          </a:prstGeom>
          <a:solidFill>
            <a:srgbClr val="F3F5F7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2046"/>
                </a:solidFill>
                <a:latin typeface="Aptos"/>
              </a:defRPr>
            </a:pPr>
            <a:r>
              <a:t>Cloud streams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24712" y="2029968"/>
            <a:ext cx="0" cy="329184"/>
          </a:xfrm>
          <a:prstGeom prst="line">
            <a:avLst/>
          </a:prstGeom>
          <a:ln w="1905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587752" y="2029968"/>
            <a:ext cx="0" cy="329184"/>
          </a:xfrm>
          <a:prstGeom prst="line">
            <a:avLst/>
          </a:prstGeom>
          <a:ln w="1905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050791" y="2029968"/>
            <a:ext cx="0" cy="329184"/>
          </a:xfrm>
          <a:prstGeom prst="line">
            <a:avLst/>
          </a:prstGeom>
          <a:ln w="1905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513831" y="2029968"/>
            <a:ext cx="0" cy="329184"/>
          </a:xfrm>
          <a:prstGeom prst="line">
            <a:avLst/>
          </a:prstGeom>
          <a:ln w="1905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6976872" y="2029968"/>
            <a:ext cx="0" cy="329184"/>
          </a:xfrm>
          <a:prstGeom prst="line">
            <a:avLst/>
          </a:prstGeom>
          <a:ln w="1905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657600" y="2377440"/>
            <a:ext cx="4572000" cy="658368"/>
          </a:xfrm>
          <a:prstGeom prst="roundRect">
            <a:avLst/>
          </a:prstGeom>
          <a:solidFill>
            <a:srgbClr val="E1F0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INGESTION + NORMALIZATION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0" y="3063240"/>
            <a:ext cx="0" cy="365760"/>
          </a:xfrm>
          <a:prstGeom prst="line">
            <a:avLst/>
          </a:prstGeom>
          <a:ln w="3175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657600" y="3474720"/>
            <a:ext cx="4572000" cy="658368"/>
          </a:xfrm>
          <a:prstGeom prst="roundRect">
            <a:avLst/>
          </a:prstGeom>
          <a:solidFill>
            <a:srgbClr val="E1F6F4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82046"/>
                </a:solidFill>
                <a:latin typeface="Aptos"/>
              </a:defRPr>
            </a:pPr>
            <a:r>
              <a:t>AI READINESS + METADATA ENRICHMENT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43600" y="4160520"/>
            <a:ext cx="0" cy="365760"/>
          </a:xfrm>
          <a:prstGeom prst="line">
            <a:avLst/>
          </a:prstGeom>
          <a:ln w="3175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51560" y="4572000"/>
            <a:ext cx="2926080" cy="868680"/>
          </a:xfrm>
          <a:prstGeom prst="roundRect">
            <a:avLst/>
          </a:prstGeom>
          <a:solidFill>
            <a:srgbClr val="EEE8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046"/>
                </a:solidFill>
                <a:latin typeface="Aptos"/>
              </a:defRPr>
            </a:pPr>
            <a:r>
              <a:t>Knowledge Graph</a:t>
            </a:r>
            <a:br/>
            <a:r>
              <a:t>Ontology • Entities • Lineage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17720" y="4572000"/>
            <a:ext cx="2926080" cy="868680"/>
          </a:xfrm>
          <a:prstGeom prst="roundRect">
            <a:avLst/>
          </a:prstGeom>
          <a:solidFill>
            <a:srgbClr val="E1F0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046"/>
                </a:solidFill>
                <a:latin typeface="Aptos"/>
              </a:defRPr>
            </a:pPr>
            <a:r>
              <a:t>Vector Store</a:t>
            </a:r>
            <a:br/>
            <a:r>
              <a:t>Embeddings • Retrieval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4572000"/>
            <a:ext cx="2926080" cy="868680"/>
          </a:xfrm>
          <a:prstGeom prst="roundRect">
            <a:avLst/>
          </a:prstGeom>
          <a:solidFill>
            <a:srgbClr val="E8F4E1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046"/>
                </a:solidFill>
                <a:latin typeface="Aptos"/>
              </a:defRPr>
            </a:pPr>
            <a:r>
              <a:t>MCP / APIs</a:t>
            </a:r>
            <a:br/>
            <a:r>
              <a:t>Controlled access to tools</a:t>
            </a:r>
          </a:p>
        </p:txBody>
      </p:sp>
      <p:cxnSp>
        <p:nvCxnSpPr>
          <p:cNvPr id="24" name="Connector 23"/>
          <p:cNvCxnSpPr/>
          <p:nvPr/>
        </p:nvCxnSpPr>
        <p:spPr>
          <a:xfrm flipH="1">
            <a:off x="2514600" y="4160520"/>
            <a:ext cx="3429000" cy="393192"/>
          </a:xfrm>
          <a:prstGeom prst="line">
            <a:avLst/>
          </a:prstGeom>
          <a:ln w="1905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943600" y="4160520"/>
            <a:ext cx="137160" cy="393192"/>
          </a:xfrm>
          <a:prstGeom prst="line">
            <a:avLst/>
          </a:prstGeom>
          <a:ln w="1905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943600" y="4160520"/>
            <a:ext cx="3703320" cy="393192"/>
          </a:xfrm>
          <a:prstGeom prst="line">
            <a:avLst/>
          </a:prstGeom>
          <a:ln w="1905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011680" y="5715000"/>
            <a:ext cx="8138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5A626C"/>
                </a:solidFill>
                <a:latin typeface="Aptos"/>
              </a:defRPr>
            </a:pPr>
            <a:r>
              <a:t>Governance, access control, evaluation and human feedback operate across the pipeline.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82046"/>
                </a:solidFill>
                <a:latin typeface="Aptos"/>
              </a:defRPr>
            </a:pPr>
            <a:r>
              <a:t>AI-powered metadata enrichment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32004"/>
          </a:xfrm>
          <a:prstGeom prst="rect">
            <a:avLst/>
          </a:prstGeom>
          <a:solidFill>
            <a:srgbClr val="149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  <a:latin typeface="Aptos"/>
              </a:defRPr>
            </a:pPr>
            <a:r>
              <a:t>AI at Scale — based on the provided World Bank Group presentation (Aug. 17,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194560" cy="3566160"/>
          </a:xfrm>
          <a:prstGeom prst="roundRect">
            <a:avLst/>
          </a:prstGeom>
          <a:solidFill>
            <a:srgbClr val="F3F5F7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DOCUMENT / DATASET</a:t>
            </a:r>
            <a:br/>
            <a:br/>
            <a:r>
              <a:t>PDF • Dataset • API • Report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3200400"/>
            <a:ext cx="548640" cy="0"/>
          </a:xfrm>
          <a:prstGeom prst="line">
            <a:avLst/>
          </a:prstGeom>
          <a:ln w="3175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20440" y="1417320"/>
            <a:ext cx="2286000" cy="3566160"/>
          </a:xfrm>
          <a:prstGeom prst="roundRect">
            <a:avLst/>
          </a:prstGeom>
          <a:solidFill>
            <a:srgbClr val="E1F0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82046"/>
                </a:solidFill>
                <a:latin typeface="Aptos"/>
              </a:defRPr>
            </a:pPr>
            <a:r>
              <a:t>AI ENRICHMENT</a:t>
            </a:r>
            <a:br/>
            <a:br/>
            <a:r>
              <a:t>LLM / NLP</a:t>
            </a:r>
            <a:br/>
            <a:br/>
            <a:r>
              <a:t>• Classification</a:t>
            </a:r>
            <a:br/>
            <a:r>
              <a:t>• Entity extraction</a:t>
            </a:r>
            <a:br/>
            <a:r>
              <a:t>• Topic detection</a:t>
            </a:r>
            <a:br/>
            <a:r>
              <a:t>• Summary</a:t>
            </a:r>
            <a:br/>
            <a:r>
              <a:t>• Country / region</a:t>
            </a:r>
            <a:br/>
            <a:r>
              <a:t>• SDG mapping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97880" y="3200400"/>
            <a:ext cx="548640" cy="0"/>
          </a:xfrm>
          <a:prstGeom prst="line">
            <a:avLst/>
          </a:prstGeom>
          <a:ln w="3175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92240" y="1417320"/>
            <a:ext cx="2286000" cy="3566160"/>
          </a:xfrm>
          <a:prstGeom prst="roundRect">
            <a:avLst/>
          </a:prstGeom>
          <a:solidFill>
            <a:srgbClr val="E1F6F4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82046"/>
                </a:solidFill>
                <a:latin typeface="Aptos"/>
              </a:defRPr>
            </a:pPr>
            <a:r>
              <a:t>METADATA</a:t>
            </a:r>
            <a:br/>
            <a:br/>
            <a:r>
              <a:t>Title</a:t>
            </a:r>
            <a:br/>
            <a:r>
              <a:t>Description</a:t>
            </a:r>
            <a:br/>
            <a:r>
              <a:t>Owner</a:t>
            </a:r>
            <a:br/>
            <a:r>
              <a:t>Topics</a:t>
            </a:r>
            <a:br/>
            <a:r>
              <a:t>Entities</a:t>
            </a:r>
            <a:br/>
            <a:r>
              <a:t>Language</a:t>
            </a:r>
            <a:br/>
            <a:r>
              <a:t>Sensitivity</a:t>
            </a:r>
            <a:br/>
            <a:r>
              <a:t>Version</a:t>
            </a:r>
            <a:br/>
            <a:r>
              <a:t>Quality</a:t>
            </a:r>
            <a:br/>
            <a:r>
              <a:t>AI readiness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69680" y="3200400"/>
            <a:ext cx="548640" cy="0"/>
          </a:xfrm>
          <a:prstGeom prst="line">
            <a:avLst/>
          </a:prstGeom>
          <a:ln w="3175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464040" y="1417320"/>
            <a:ext cx="2057400" cy="3566160"/>
          </a:xfrm>
          <a:prstGeom prst="roundRect">
            <a:avLst/>
          </a:prstGeom>
          <a:solidFill>
            <a:srgbClr val="E8F4E1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AI-READY ASSET</a:t>
            </a:r>
            <a:br/>
            <a:br/>
            <a:r>
              <a:t>Better discovery</a:t>
            </a:r>
            <a:br/>
            <a:r>
              <a:t>Better retrieval</a:t>
            </a:r>
            <a:br/>
            <a:r>
              <a:t>Better governance</a:t>
            </a:r>
            <a:br/>
            <a:r>
              <a:t>Better reuse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44068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82046"/>
                </a:solidFill>
                <a:latin typeface="Aptos"/>
              </a:defRPr>
            </a:pPr>
            <a:r>
              <a:t>The PDF explicitly proposes AI-powered metadata tagging, classification, entity extraction and enrichment.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82046"/>
                </a:solidFill>
                <a:latin typeface="Aptos"/>
              </a:defRPr>
            </a:pPr>
            <a:r>
              <a:t>Semantic layer &amp; ontology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32004"/>
          </a:xfrm>
          <a:prstGeom prst="rect">
            <a:avLst/>
          </a:prstGeom>
          <a:solidFill>
            <a:srgbClr val="149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  <a:latin typeface="Aptos"/>
              </a:defRPr>
            </a:pPr>
            <a:r>
              <a:t>AI at Scale — based on the provided World Bank Group presentation (Aug. 17,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286000" cy="777240"/>
          </a:xfrm>
          <a:prstGeom prst="roundRect">
            <a:avLst/>
          </a:prstGeom>
          <a:solidFill>
            <a:srgbClr val="E1F0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82046"/>
                </a:solidFill>
                <a:latin typeface="Aptos"/>
              </a:defRPr>
            </a:pPr>
            <a:r>
              <a:t>Business concepts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71800" y="1810512"/>
            <a:ext cx="502920" cy="0"/>
          </a:xfrm>
          <a:prstGeom prst="line">
            <a:avLst/>
          </a:prstGeom>
          <a:ln w="2540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20440" y="1417320"/>
            <a:ext cx="2286000" cy="777240"/>
          </a:xfrm>
          <a:prstGeom prst="roundRect">
            <a:avLst/>
          </a:prstGeom>
          <a:solidFill>
            <a:srgbClr val="EEE8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82046"/>
                </a:solidFill>
                <a:latin typeface="Aptos"/>
              </a:defRPr>
            </a:pPr>
            <a:r>
              <a:t>Ontology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52160" y="1810512"/>
            <a:ext cx="502920" cy="0"/>
          </a:xfrm>
          <a:prstGeom prst="line">
            <a:avLst/>
          </a:prstGeom>
          <a:ln w="2540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00800" y="1417320"/>
            <a:ext cx="2286000" cy="777240"/>
          </a:xfrm>
          <a:prstGeom prst="roundRect">
            <a:avLst/>
          </a:prstGeom>
          <a:solidFill>
            <a:srgbClr val="E1F6F4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82046"/>
                </a:solidFill>
                <a:latin typeface="Aptos"/>
              </a:defRPr>
            </a:pPr>
            <a:r>
              <a:t>Semantic layer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732520" y="1810512"/>
            <a:ext cx="502920" cy="0"/>
          </a:xfrm>
          <a:prstGeom prst="line">
            <a:avLst/>
          </a:prstGeom>
          <a:ln w="2540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9281160" y="1417320"/>
            <a:ext cx="2286000" cy="777240"/>
          </a:xfrm>
          <a:prstGeom prst="roundRect">
            <a:avLst/>
          </a:prstGeom>
          <a:solidFill>
            <a:srgbClr val="E8F4E1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82046"/>
                </a:solidFill>
                <a:latin typeface="Aptos"/>
              </a:defRPr>
            </a:pPr>
            <a:r>
              <a:t>AI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2743200"/>
            <a:ext cx="1554480" cy="640080"/>
          </a:xfrm>
          <a:prstGeom prst="roundRect">
            <a:avLst/>
          </a:prstGeom>
          <a:solidFill>
            <a:srgbClr val="E1F0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82046"/>
                </a:solidFill>
                <a:latin typeface="Aptos"/>
              </a:defRPr>
            </a:pPr>
            <a:r>
              <a:t>GDP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0" y="2240280"/>
            <a:ext cx="1828800" cy="640080"/>
          </a:xfrm>
          <a:prstGeom prst="roundRect">
            <a:avLst/>
          </a:prstGeom>
          <a:solidFill>
            <a:srgbClr val="EEE8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046"/>
                </a:solidFill>
                <a:latin typeface="Aptos"/>
              </a:defRPr>
            </a:pPr>
            <a:r>
              <a:t>Indicator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0" y="3246120"/>
            <a:ext cx="1828800" cy="640080"/>
          </a:xfrm>
          <a:prstGeom prst="roundRect">
            <a:avLst/>
          </a:prstGeom>
          <a:solidFill>
            <a:srgbClr val="EEE8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046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0" y="2240280"/>
            <a:ext cx="1828800" cy="640080"/>
          </a:xfrm>
          <a:prstGeom prst="roundRect">
            <a:avLst/>
          </a:prstGeom>
          <a:solidFill>
            <a:srgbClr val="E1F6F4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046"/>
                </a:solidFill>
                <a:latin typeface="Aptos"/>
              </a:defRPr>
            </a:pPr>
            <a:r>
              <a:t>Country: India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0" y="3246120"/>
            <a:ext cx="1828800" cy="640080"/>
          </a:xfrm>
          <a:prstGeom prst="roundRect">
            <a:avLst/>
          </a:prstGeom>
          <a:solidFill>
            <a:srgbClr val="E1F6F4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046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2743200"/>
            <a:ext cx="1645920" cy="640080"/>
          </a:xfrm>
          <a:prstGeom prst="roundRect">
            <a:avLst/>
          </a:prstGeom>
          <a:solidFill>
            <a:srgbClr val="E8F4E1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046"/>
                </a:solidFill>
                <a:latin typeface="Aptos"/>
              </a:defRPr>
            </a:pPr>
            <a:r>
              <a:t>Research</a:t>
            </a:r>
          </a:p>
        </p:txBody>
      </p:sp>
      <p:cxnSp>
        <p:nvCxnSpPr>
          <p:cNvPr id="20" name="Connector 19"/>
          <p:cNvCxnSpPr/>
          <p:nvPr/>
        </p:nvCxnSpPr>
        <p:spPr>
          <a:xfrm flipV="1">
            <a:off x="2560320" y="2560320"/>
            <a:ext cx="1097280" cy="502920"/>
          </a:xfrm>
          <a:prstGeom prst="line">
            <a:avLst/>
          </a:prstGeom>
          <a:ln w="1905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572000" y="2560320"/>
            <a:ext cx="2286000" cy="0"/>
          </a:xfrm>
          <a:prstGeom prst="line">
            <a:avLst/>
          </a:prstGeom>
          <a:ln w="1905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572000" y="3566160"/>
            <a:ext cx="2286000" cy="0"/>
          </a:xfrm>
          <a:prstGeom prst="line">
            <a:avLst/>
          </a:prstGeom>
          <a:ln w="1905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686800" y="2560320"/>
            <a:ext cx="640080" cy="502920"/>
          </a:xfrm>
          <a:prstGeom prst="line">
            <a:avLst/>
          </a:prstGeom>
          <a:ln w="1905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686800" y="3063240"/>
            <a:ext cx="640080" cy="502920"/>
          </a:xfrm>
          <a:prstGeom prst="line">
            <a:avLst/>
          </a:prstGeom>
          <a:ln w="1905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4400" y="4754880"/>
            <a:ext cx="10241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82046"/>
                </a:solidFill>
                <a:latin typeface="Aptos"/>
              </a:defRPr>
            </a:pPr>
            <a:r>
              <a:t>Why it matters</a:t>
            </a:r>
          </a:p>
          <a:p>
            <a:pPr>
              <a:defRPr sz="1300">
                <a:solidFill>
                  <a:srgbClr val="191E23"/>
                </a:solidFill>
                <a:latin typeface="Aptos"/>
              </a:defRPr>
            </a:pPr>
            <a:r>
              <a:t>The semantic layer gives AI consistent meaning across different names, schemas and sources. The Knowledge Graph then represents explicit relationships between entities, data, metadata and code.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82046"/>
                </a:solidFill>
                <a:latin typeface="Aptos"/>
              </a:defRPr>
            </a:pPr>
            <a:r>
              <a:t>Knowledge Graph + Vector Search + 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32004"/>
          </a:xfrm>
          <a:prstGeom prst="rect">
            <a:avLst/>
          </a:prstGeom>
          <a:solidFill>
            <a:srgbClr val="149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  <a:latin typeface="Aptos"/>
              </a:defRPr>
            </a:pPr>
            <a:r>
              <a:t>AI at Scale — based on the provided World Bank Group presentation (Aug. 17,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3383280" cy="4389120"/>
          </a:xfrm>
          <a:prstGeom prst="roundRect">
            <a:avLst/>
          </a:prstGeom>
          <a:solidFill>
            <a:srgbClr val="E1F0F9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VECTOR SEARCH</a:t>
            </a:r>
          </a:p>
          <a:p>
            <a:pPr>
              <a:spcBef>
                <a:spcPts val="500"/>
              </a:spcBef>
              <a:defRPr sz="1300">
                <a:solidFill>
                  <a:srgbClr val="191E23"/>
                </a:solidFill>
                <a:latin typeface="Aptos"/>
              </a:defRPr>
            </a:pPr>
            <a:r>
              <a:t>Best for semantic similarity and retrieving relevant passages.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331720"/>
            <a:ext cx="24688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2046"/>
                </a:solidFill>
                <a:latin typeface="Aptos"/>
              </a:defRPr>
            </a:pPr>
            <a:r>
              <a:t>Query embedding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40280" y="3017520"/>
            <a:ext cx="0" cy="411480"/>
          </a:xfrm>
          <a:prstGeom prst="line">
            <a:avLst/>
          </a:prstGeom>
          <a:ln w="2540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005840" y="3520440"/>
            <a:ext cx="24688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2046"/>
                </a:solidFill>
                <a:latin typeface="Aptos"/>
              </a:defRPr>
            </a:pPr>
            <a:r>
              <a:t>Top-k chunks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526280"/>
            <a:ext cx="246888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2046"/>
                </a:solidFill>
                <a:latin typeface="Aptos"/>
              </a:defRPr>
            </a:pPr>
            <a:r>
              <a:t>Context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325880"/>
            <a:ext cx="3383280" cy="4389120"/>
          </a:xfrm>
          <a:prstGeom prst="roundRect">
            <a:avLst/>
          </a:prstGeom>
          <a:solidFill>
            <a:srgbClr val="EEE8F9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KNOWLEDGE GRAPH</a:t>
            </a:r>
          </a:p>
          <a:p>
            <a:pPr>
              <a:spcBef>
                <a:spcPts val="500"/>
              </a:spcBef>
              <a:defRPr sz="1300">
                <a:solidFill>
                  <a:srgbClr val="191E23"/>
                </a:solidFill>
                <a:latin typeface="Aptos"/>
              </a:defRPr>
            </a:pPr>
            <a:r>
              <a:t>Best for entities, relationships, ontology and explicit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754880" y="2331720"/>
            <a:ext cx="10972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2046"/>
                </a:solidFill>
                <a:latin typeface="Aptos"/>
              </a:defRPr>
            </a:pPr>
            <a:r>
              <a:t>Country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331720"/>
            <a:ext cx="10972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2046"/>
                </a:solidFill>
                <a:latin typeface="Aptos"/>
              </a:defRPr>
            </a:pPr>
            <a:r>
              <a:t>Dataset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3383280"/>
            <a:ext cx="1097280" cy="54864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082046"/>
                </a:solidFill>
                <a:latin typeface="Aptos"/>
              </a:defRPr>
            </a:pPr>
            <a:r>
              <a:t>Report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5486400" y="2606040"/>
            <a:ext cx="365760" cy="777240"/>
          </a:xfrm>
          <a:prstGeom prst="line">
            <a:avLst/>
          </a:prstGeom>
          <a:ln w="1651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852160" y="2606040"/>
            <a:ext cx="365760" cy="0"/>
          </a:xfrm>
          <a:prstGeom prst="line">
            <a:avLst/>
          </a:prstGeom>
          <a:ln w="1651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138160" y="1325880"/>
            <a:ext cx="3474720" cy="4389120"/>
          </a:xfrm>
          <a:prstGeom prst="roundRect">
            <a:avLst/>
          </a:prstGeom>
          <a:solidFill>
            <a:srgbClr val="E8F4E1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COMBINED RAG</a:t>
            </a:r>
          </a:p>
          <a:p>
            <a:pPr>
              <a:spcBef>
                <a:spcPts val="500"/>
              </a:spcBef>
              <a:defRPr sz="1300">
                <a:solidFill>
                  <a:srgbClr val="191E23"/>
                </a:solidFill>
                <a:latin typeface="Aptos"/>
              </a:defRPr>
            </a:pPr>
            <a:r>
              <a:t>Use vector retrieval + graph context + metadata/access filters before the LLM generates an answer.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95360" y="2331720"/>
            <a:ext cx="2560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2046"/>
                </a:solidFill>
                <a:latin typeface="Aptos"/>
              </a:defRPr>
            </a:pPr>
            <a:r>
              <a:t>Retrieved evidence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875520" y="3017520"/>
            <a:ext cx="0" cy="411480"/>
          </a:xfrm>
          <a:prstGeom prst="line">
            <a:avLst/>
          </a:prstGeom>
          <a:ln w="2540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8595360" y="3520440"/>
            <a:ext cx="2560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2046"/>
                </a:solidFill>
                <a:latin typeface="Aptos"/>
              </a:defRPr>
            </a:pPr>
            <a:r>
              <a:t>LLM grounding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875520" y="4206240"/>
            <a:ext cx="0" cy="411480"/>
          </a:xfrm>
          <a:prstGeom prst="line">
            <a:avLst/>
          </a:prstGeom>
          <a:ln w="2540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595360" y="4709160"/>
            <a:ext cx="2560320" cy="640080"/>
          </a:xfrm>
          <a:prstGeom prst="roundRect">
            <a:avLst/>
          </a:prstGeom>
          <a:solidFill>
            <a:srgbClr val="FFFFFF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2046"/>
                </a:solidFill>
                <a:latin typeface="Aptos"/>
              </a:defRPr>
            </a:pPr>
            <a:r>
              <a:t>Answer + citations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82046"/>
                </a:solidFill>
                <a:latin typeface="Aptos"/>
              </a:defRPr>
            </a:pPr>
            <a:r>
              <a:t>MCP in the AI at Scale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32004"/>
          </a:xfrm>
          <a:prstGeom prst="rect">
            <a:avLst/>
          </a:prstGeom>
          <a:solidFill>
            <a:srgbClr val="149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  <a:latin typeface="Aptos"/>
              </a:defRPr>
            </a:pPr>
            <a:r>
              <a:t>AI at Scale — based on the provided World Bank Group presentation (Aug. 17,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23160"/>
            <a:ext cx="1828800" cy="960120"/>
          </a:xfrm>
          <a:prstGeom prst="roundRect">
            <a:avLst/>
          </a:prstGeom>
          <a:solidFill>
            <a:srgbClr val="E8F4E1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082046"/>
                </a:solidFill>
                <a:latin typeface="Aptos"/>
              </a:defRPr>
            </a:pPr>
            <a:r>
              <a:t>AI AGENT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60320" y="2907792"/>
            <a:ext cx="594360" cy="0"/>
          </a:xfrm>
          <a:prstGeom prst="line">
            <a:avLst/>
          </a:prstGeom>
          <a:ln w="3175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200400" y="1508760"/>
            <a:ext cx="2468880" cy="2834640"/>
          </a:xfrm>
          <a:prstGeom prst="roundRect">
            <a:avLst/>
          </a:prstGeom>
          <a:solidFill>
            <a:srgbClr val="E1F0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MCP / INTEGRATION</a:t>
            </a:r>
            <a:br/>
            <a:r>
              <a:t>LAYER</a:t>
            </a:r>
            <a:br/>
            <a:br/>
            <a:r>
              <a:t>Controlled tools</a:t>
            </a:r>
            <a:br/>
            <a:r>
              <a:t>Context access</a:t>
            </a:r>
            <a:br/>
            <a:r>
              <a:t>APIs</a:t>
            </a:r>
            <a:br/>
            <a:r>
              <a:t>Policy enforcement</a:t>
            </a:r>
            <a:br/>
            <a:r>
              <a:t>Audit / guardrails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760720" y="2907792"/>
            <a:ext cx="594360" cy="0"/>
          </a:xfrm>
          <a:prstGeom prst="line">
            <a:avLst/>
          </a:prstGeom>
          <a:ln w="3175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446520" y="1143000"/>
            <a:ext cx="1737360" cy="777240"/>
          </a:xfrm>
          <a:prstGeom prst="roundRect">
            <a:avLst/>
          </a:prstGeom>
          <a:solidFill>
            <a:srgbClr val="F3F5F7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82046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49640" y="1143000"/>
            <a:ext cx="1737360" cy="777240"/>
          </a:xfrm>
          <a:prstGeom prst="roundRect">
            <a:avLst/>
          </a:prstGeom>
          <a:solidFill>
            <a:srgbClr val="F3F5F7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82046"/>
                </a:solidFill>
                <a:latin typeface="Aptos"/>
              </a:defRPr>
            </a:pPr>
            <a:r>
              <a:t>Knowledge Graph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46520" y="2423160"/>
            <a:ext cx="1737360" cy="777240"/>
          </a:xfrm>
          <a:prstGeom prst="roundRect">
            <a:avLst/>
          </a:prstGeom>
          <a:solidFill>
            <a:srgbClr val="F3F5F7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82046"/>
                </a:solidFill>
                <a:latin typeface="Aptos"/>
              </a:defRPr>
            </a:pPr>
            <a:r>
              <a:t>Databricks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2423160"/>
            <a:ext cx="1737360" cy="777240"/>
          </a:xfrm>
          <a:prstGeom prst="roundRect">
            <a:avLst/>
          </a:prstGeom>
          <a:solidFill>
            <a:srgbClr val="F3F5F7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82046"/>
                </a:solidFill>
                <a:latin typeface="Aptos"/>
              </a:defRPr>
            </a:pPr>
            <a:r>
              <a:t>Data APIs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3703320"/>
            <a:ext cx="1737360" cy="777240"/>
          </a:xfrm>
          <a:prstGeom prst="roundRect">
            <a:avLst/>
          </a:prstGeom>
          <a:solidFill>
            <a:srgbClr val="F3F5F7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82046"/>
                </a:solidFill>
                <a:latin typeface="Aptos"/>
              </a:defRPr>
            </a:pPr>
            <a:r>
              <a:t>Documents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49640" y="3703320"/>
            <a:ext cx="1737360" cy="777240"/>
          </a:xfrm>
          <a:prstGeom prst="roundRect">
            <a:avLst/>
          </a:prstGeom>
          <a:solidFill>
            <a:srgbClr val="F3F5F7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50" b="1">
                <a:solidFill>
                  <a:srgbClr val="082046"/>
                </a:solidFill>
                <a:latin typeface="Aptos"/>
              </a:defRPr>
            </a:pPr>
            <a:r>
              <a:t>Workflow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5669280" y="1527048"/>
            <a:ext cx="777240" cy="1380744"/>
          </a:xfrm>
          <a:prstGeom prst="line">
            <a:avLst/>
          </a:prstGeom>
          <a:ln w="127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5669280" y="1527048"/>
            <a:ext cx="2880360" cy="1380744"/>
          </a:xfrm>
          <a:prstGeom prst="line">
            <a:avLst/>
          </a:prstGeom>
          <a:ln w="127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5669280" y="2807208"/>
            <a:ext cx="777240" cy="100584"/>
          </a:xfrm>
          <a:prstGeom prst="line">
            <a:avLst/>
          </a:prstGeom>
          <a:ln w="127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5669280" y="2807208"/>
            <a:ext cx="2880360" cy="100584"/>
          </a:xfrm>
          <a:prstGeom prst="line">
            <a:avLst/>
          </a:prstGeom>
          <a:ln w="127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5669280" y="2907792"/>
            <a:ext cx="777240" cy="1179576"/>
          </a:xfrm>
          <a:prstGeom prst="line">
            <a:avLst/>
          </a:prstGeom>
          <a:ln w="127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5669280" y="2907792"/>
            <a:ext cx="2880360" cy="1179576"/>
          </a:xfrm>
          <a:prstGeom prst="line">
            <a:avLst/>
          </a:prstGeom>
          <a:ln w="1270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52120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082046"/>
                </a:solidFill>
                <a:latin typeface="Aptos"/>
              </a:defRPr>
            </a:pPr>
            <a:r>
              <a:t>Role of MCP: provide a governed, reusable way for AI/agents to interact with enterprise tools, data and context—rather than hard-coding every integration.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82046"/>
                </a:solidFill>
                <a:latin typeface="Aptos"/>
              </a:defRPr>
            </a:pPr>
            <a:r>
              <a:t>Agent-ready enterprise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32004"/>
          </a:xfrm>
          <a:prstGeom prst="rect">
            <a:avLst/>
          </a:prstGeom>
          <a:solidFill>
            <a:srgbClr val="149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  <a:latin typeface="Aptos"/>
              </a:defRPr>
            </a:pPr>
            <a:r>
              <a:t>AI at Scale — based on the provided World Bank Group presentation (Aug. 17,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17720" y="1143000"/>
            <a:ext cx="2926080" cy="685800"/>
          </a:xfrm>
          <a:prstGeom prst="roundRect">
            <a:avLst/>
          </a:prstGeom>
          <a:solidFill>
            <a:srgbClr val="F3F5F7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82046"/>
                </a:solidFill>
                <a:latin typeface="Aptos"/>
              </a:defRPr>
            </a:pPr>
            <a:r>
              <a:t>USER / BUSINESS REQUEST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1847088"/>
            <a:ext cx="0" cy="365760"/>
          </a:xfrm>
          <a:prstGeom prst="line">
            <a:avLst/>
          </a:prstGeom>
          <a:ln w="2794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51960" y="2267712"/>
            <a:ext cx="3657600" cy="731520"/>
          </a:xfrm>
          <a:prstGeom prst="roundRect">
            <a:avLst/>
          </a:prstGeom>
          <a:solidFill>
            <a:srgbClr val="E8F4E1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082046"/>
                </a:solidFill>
                <a:latin typeface="Aptos"/>
              </a:defRPr>
            </a:pPr>
            <a:r>
              <a:t>AGENT / COPILOT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743200" y="2999232"/>
            <a:ext cx="1828800" cy="457200"/>
          </a:xfrm>
          <a:prstGeom prst="line">
            <a:avLst/>
          </a:prstGeom>
          <a:ln w="1905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80760" y="2999232"/>
            <a:ext cx="0" cy="457200"/>
          </a:xfrm>
          <a:prstGeom prst="line">
            <a:avLst/>
          </a:prstGeom>
          <a:ln w="1905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589520" y="2999232"/>
            <a:ext cx="1828800" cy="457200"/>
          </a:xfrm>
          <a:prstGeom prst="line">
            <a:avLst/>
          </a:prstGeom>
          <a:ln w="1905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143000" y="3520440"/>
            <a:ext cx="3108960" cy="914400"/>
          </a:xfrm>
          <a:prstGeom prst="roundRect">
            <a:avLst/>
          </a:prstGeom>
          <a:solidFill>
            <a:srgbClr val="E1F0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046"/>
                </a:solidFill>
                <a:latin typeface="Aptos"/>
              </a:defRPr>
            </a:pPr>
            <a:r>
              <a:t>RAG + SEMANTIC SEARCH</a:t>
            </a:r>
            <a:br/>
            <a:r>
              <a:t>Retrieve evidence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3520440"/>
            <a:ext cx="3108960" cy="914400"/>
          </a:xfrm>
          <a:prstGeom prst="roundRect">
            <a:avLst/>
          </a:prstGeom>
          <a:solidFill>
            <a:srgbClr val="EEE8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046"/>
                </a:solidFill>
                <a:latin typeface="Aptos"/>
              </a:defRPr>
            </a:pPr>
            <a:r>
              <a:t>KNOWLEDGE GRAPH</a:t>
            </a:r>
            <a:br/>
            <a:r>
              <a:t>Reason over relationships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09560" y="3520440"/>
            <a:ext cx="3108960" cy="914400"/>
          </a:xfrm>
          <a:prstGeom prst="roundRect">
            <a:avLst/>
          </a:prstGeom>
          <a:solidFill>
            <a:srgbClr val="E1F6F4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046"/>
                </a:solidFill>
                <a:latin typeface="Aptos"/>
              </a:defRPr>
            </a:pPr>
            <a:r>
              <a:t>MCP + APIs</a:t>
            </a:r>
            <a:br/>
            <a:r>
              <a:t>Take governed actions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97480" y="4480560"/>
            <a:ext cx="0" cy="411480"/>
          </a:xfrm>
          <a:prstGeom prst="line">
            <a:avLst/>
          </a:prstGeom>
          <a:ln w="2540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080760" y="4480560"/>
            <a:ext cx="0" cy="411480"/>
          </a:xfrm>
          <a:prstGeom prst="line">
            <a:avLst/>
          </a:prstGeom>
          <a:ln w="2540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464040" y="4480560"/>
            <a:ext cx="0" cy="411480"/>
          </a:xfrm>
          <a:prstGeom prst="line">
            <a:avLst/>
          </a:prstGeom>
          <a:ln w="2540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3749039" y="4937760"/>
            <a:ext cx="4663440" cy="777240"/>
          </a:xfrm>
          <a:prstGeom prst="roundRect">
            <a:avLst/>
          </a:prstGeom>
          <a:solidFill>
            <a:srgbClr val="E8F4E1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GROUNDED OUTPUT + CITATIONS + AUDIT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897880"/>
            <a:ext cx="10332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50">
                <a:solidFill>
                  <a:srgbClr val="5A626C"/>
                </a:solidFill>
                <a:latin typeface="Aptos"/>
              </a:defRPr>
            </a:pPr>
            <a:r>
              <a:t>The PDF's later stages explicitly include agentic workbenches, autonomous reasoning, multi-agent orchestration and agent-to-system collaboration.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82046"/>
                </a:solidFill>
                <a:latin typeface="Aptos"/>
              </a:defRPr>
            </a:pPr>
            <a:r>
              <a:t>Structured vs. unstructured AI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32004"/>
          </a:xfrm>
          <a:prstGeom prst="rect">
            <a:avLst/>
          </a:prstGeom>
          <a:solidFill>
            <a:srgbClr val="149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  <a:latin typeface="Aptos"/>
              </a:defRPr>
            </a:pPr>
            <a:r>
              <a:t>AI at Scale — based on the provided World Bank Group presentation (Aug. 17,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303520" cy="4526280"/>
          </a:xfrm>
          <a:prstGeom prst="roundRect">
            <a:avLst/>
          </a:prstGeom>
          <a:solidFill>
            <a:srgbClr val="E1F0F9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STRUCTURED DATA</a:t>
            </a:r>
          </a:p>
          <a:p>
            <a:pPr>
              <a:spcBef>
                <a:spcPts val="500"/>
              </a:spcBef>
              <a:defRPr sz="1300">
                <a:solidFill>
                  <a:srgbClr val="191E23"/>
                </a:solidFill>
                <a:latin typeface="Aptos"/>
              </a:defRPr>
            </a:pPr>
            <a:r>
              <a:t>Databases • Databricks • APIs •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40280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91E23"/>
                </a:solidFill>
                <a:latin typeface="Aptos"/>
              </a:defRPr>
            </a:pPr>
            <a:r>
              <a:t>AI-use-case identification &amp; AI-readiness signals</a:t>
            </a:r>
          </a:p>
          <a:p>
            <a:pPr>
              <a:spcAft>
                <a:spcPts val="700"/>
              </a:spcAft>
              <a:defRPr sz="1200">
                <a:solidFill>
                  <a:srgbClr val="191E23"/>
                </a:solidFill>
                <a:latin typeface="Aptos"/>
              </a:defRPr>
            </a:pPr>
            <a:r>
              <a:t>Semantic layer and search</a:t>
            </a:r>
          </a:p>
          <a:p>
            <a:pPr>
              <a:spcAft>
                <a:spcPts val="700"/>
              </a:spcAft>
              <a:defRPr sz="1200">
                <a:solidFill>
                  <a:srgbClr val="191E23"/>
                </a:solidFill>
                <a:latin typeface="Aptos"/>
              </a:defRPr>
            </a:pPr>
            <a:r>
              <a:t>Data product validation</a:t>
            </a:r>
          </a:p>
          <a:p>
            <a:pPr>
              <a:spcAft>
                <a:spcPts val="700"/>
              </a:spcAft>
              <a:defRPr sz="1200">
                <a:solidFill>
                  <a:srgbClr val="191E23"/>
                </a:solidFill>
                <a:latin typeface="Aptos"/>
              </a:defRPr>
            </a:pPr>
            <a:r>
              <a:t>Automated schema mapping / taxonomy</a:t>
            </a:r>
          </a:p>
          <a:p>
            <a:pPr>
              <a:spcAft>
                <a:spcPts val="700"/>
              </a:spcAft>
              <a:defRPr sz="1200">
                <a:solidFill>
                  <a:srgbClr val="191E23"/>
                </a:solidFill>
                <a:latin typeface="Aptos"/>
              </a:defRPr>
            </a:pPr>
            <a:r>
              <a:t>AI-assisted certification and quality scoring</a:t>
            </a:r>
          </a:p>
          <a:p>
            <a:pPr>
              <a:spcAft>
                <a:spcPts val="700"/>
              </a:spcAft>
              <a:defRPr sz="1200">
                <a:solidFill>
                  <a:srgbClr val="191E23"/>
                </a:solidFill>
                <a:latin typeface="Aptos"/>
              </a:defRPr>
            </a:pPr>
            <a:r>
              <a:t>Copilots, recommendations and personalization</a:t>
            </a:r>
          </a:p>
          <a:p>
            <a:pPr>
              <a:spcAft>
                <a:spcPts val="700"/>
              </a:spcAft>
              <a:defRPr sz="1200">
                <a:solidFill>
                  <a:srgbClr val="191E23"/>
                </a:solidFill>
                <a:latin typeface="Aptos"/>
              </a:defRPr>
            </a:pPr>
            <a:r>
              <a:t>Marketplace + governed sharing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303520" cy="4526280"/>
          </a:xfrm>
          <a:prstGeom prst="roundRect">
            <a:avLst/>
          </a:prstGeom>
          <a:solidFill>
            <a:srgbClr val="E1F6F4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UNSTRUCTURED DATA</a:t>
            </a:r>
          </a:p>
          <a:p>
            <a:pPr>
              <a:spcBef>
                <a:spcPts val="500"/>
              </a:spcBef>
              <a:defRPr sz="1300">
                <a:solidFill>
                  <a:srgbClr val="191E23"/>
                </a:solidFill>
                <a:latin typeface="Aptos"/>
              </a:defRPr>
            </a:pPr>
            <a:r>
              <a:t>Documents • reports • publications • repositories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240280"/>
            <a:ext cx="47548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191E23"/>
                </a:solidFill>
                <a:latin typeface="Aptos"/>
              </a:defRPr>
            </a:pPr>
            <a:r>
              <a:t>AI-readiness baseline &amp; embedding suitability</a:t>
            </a:r>
          </a:p>
          <a:p>
            <a:pPr>
              <a:spcAft>
                <a:spcPts val="700"/>
              </a:spcAft>
              <a:defRPr sz="1200">
                <a:solidFill>
                  <a:srgbClr val="191E23"/>
                </a:solidFill>
                <a:latin typeface="Aptos"/>
              </a:defRPr>
            </a:pPr>
            <a:r>
              <a:t>Unified MCP + AI search</a:t>
            </a:r>
          </a:p>
          <a:p>
            <a:pPr>
              <a:spcAft>
                <a:spcPts val="700"/>
              </a:spcAft>
              <a:defRPr sz="1200">
                <a:solidFill>
                  <a:srgbClr val="191E23"/>
                </a:solidFill>
                <a:latin typeface="Aptos"/>
              </a:defRPr>
            </a:pPr>
            <a:r>
              <a:t>Metadata standards and auto-tagging</a:t>
            </a:r>
          </a:p>
          <a:p>
            <a:pPr>
              <a:spcAft>
                <a:spcPts val="700"/>
              </a:spcAft>
              <a:defRPr sz="1200">
                <a:solidFill>
                  <a:srgbClr val="191E23"/>
                </a:solidFill>
                <a:latin typeface="Aptos"/>
              </a:defRPr>
            </a:pPr>
            <a:r>
              <a:t>Ontology-driven knowledge structures</a:t>
            </a:r>
          </a:p>
          <a:p>
            <a:pPr>
              <a:spcAft>
                <a:spcPts val="700"/>
              </a:spcAft>
              <a:defRPr sz="1200">
                <a:solidFill>
                  <a:srgbClr val="191E23"/>
                </a:solidFill>
                <a:latin typeface="Aptos"/>
              </a:defRPr>
            </a:pPr>
            <a:r>
              <a:t>Enterprise MCP + RAG service</a:t>
            </a:r>
          </a:p>
          <a:p>
            <a:pPr>
              <a:spcAft>
                <a:spcPts val="700"/>
              </a:spcAft>
              <a:defRPr sz="1200">
                <a:solidFill>
                  <a:srgbClr val="191E23"/>
                </a:solidFill>
                <a:latin typeface="Aptos"/>
              </a:defRPr>
            </a:pPr>
            <a:r>
              <a:t>AI classification for disposition workflows</a:t>
            </a:r>
          </a:p>
          <a:p>
            <a:pPr>
              <a:spcAft>
                <a:spcPts val="700"/>
              </a:spcAft>
              <a:defRPr sz="1200">
                <a:solidFill>
                  <a:srgbClr val="191E23"/>
                </a:solidFill>
                <a:latin typeface="Aptos"/>
              </a:defRPr>
            </a:pPr>
            <a:r>
              <a:t>Governance, copyright/licensing and AI enrichment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82046"/>
                </a:solidFill>
                <a:latin typeface="Aptos"/>
              </a:defRPr>
            </a:pPr>
            <a:r>
              <a:t>AI use cases in the WBG Library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32004"/>
          </a:xfrm>
          <a:prstGeom prst="rect">
            <a:avLst/>
          </a:prstGeom>
          <a:solidFill>
            <a:srgbClr val="149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  <a:latin typeface="Aptos"/>
              </a:defRPr>
            </a:pPr>
            <a:r>
              <a:t>AI at Scale — based on the provided World Bank Group presentation (Aug. 17,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ptos"/>
              </a:defRPr>
            </a:pPr>
            <a:r>
              <a:t>15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5440680" cy="960120"/>
          </a:xfrm>
          <a:prstGeom prst="roundRect">
            <a:avLst/>
          </a:prstGeom>
          <a:solidFill>
            <a:srgbClr val="F3F5F7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AI Research Assistant</a:t>
            </a:r>
          </a:p>
          <a:p>
            <a:pPr>
              <a:spcBef>
                <a:spcPts val="500"/>
              </a:spcBef>
              <a:defRPr sz="1019">
                <a:solidFill>
                  <a:srgbClr val="191E23"/>
                </a:solidFill>
                <a:latin typeface="Aptos"/>
              </a:defRPr>
            </a:pPr>
            <a:r>
              <a:t>Natural-language queries • Multi-source search • Citation-backed answers • Follow-up questions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325880"/>
            <a:ext cx="5440680" cy="960120"/>
          </a:xfrm>
          <a:prstGeom prst="roundRect">
            <a:avLst/>
          </a:prstGeom>
          <a:solidFill>
            <a:srgbClr val="E1F0F9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AI Publication Summaries</a:t>
            </a:r>
          </a:p>
          <a:p>
            <a:pPr>
              <a:spcBef>
                <a:spcPts val="500"/>
              </a:spcBef>
              <a:defRPr sz="1019">
                <a:solidFill>
                  <a:srgbClr val="191E23"/>
                </a:solidFill>
                <a:latin typeface="Aptos"/>
              </a:defRPr>
            </a:pPr>
            <a:r>
              <a:t>Executive • Policy • Sector • Country-specific summaries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496312"/>
            <a:ext cx="5440680" cy="960120"/>
          </a:xfrm>
          <a:prstGeom prst="roundRect">
            <a:avLst/>
          </a:prstGeom>
          <a:solidFill>
            <a:srgbClr val="F3F5F7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Development Knowledge Copilot</a:t>
            </a:r>
          </a:p>
          <a:p>
            <a:pPr>
              <a:spcBef>
                <a:spcPts val="500"/>
              </a:spcBef>
              <a:defRPr sz="1019">
                <a:solidFill>
                  <a:srgbClr val="191E23"/>
                </a:solidFill>
                <a:latin typeface="Aptos"/>
              </a:defRPr>
            </a:pPr>
            <a:r>
              <a:t>Conversational access • Grounded answers • Cross-document synthesis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59" y="2496312"/>
            <a:ext cx="5440680" cy="960120"/>
          </a:xfrm>
          <a:prstGeom prst="roundRect">
            <a:avLst/>
          </a:prstGeom>
          <a:solidFill>
            <a:srgbClr val="E1F0F9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Intelligent Recommendation Engine</a:t>
            </a:r>
          </a:p>
          <a:p>
            <a:pPr>
              <a:spcBef>
                <a:spcPts val="500"/>
              </a:spcBef>
              <a:defRPr sz="1019">
                <a:solidFill>
                  <a:srgbClr val="191E23"/>
                </a:solidFill>
                <a:latin typeface="Aptos"/>
              </a:defRPr>
            </a:pPr>
            <a:r>
              <a:t>Personalized recommendations • Role-based suggestions • Learning pathways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666744"/>
            <a:ext cx="5440680" cy="960120"/>
          </a:xfrm>
          <a:prstGeom prst="roundRect">
            <a:avLst/>
          </a:prstGeom>
          <a:solidFill>
            <a:srgbClr val="F3F5F7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AI Metadata Generation</a:t>
            </a:r>
          </a:p>
          <a:p>
            <a:pPr>
              <a:spcBef>
                <a:spcPts val="500"/>
              </a:spcBef>
              <a:defRPr sz="1019">
                <a:solidFill>
                  <a:srgbClr val="191E23"/>
                </a:solidFill>
                <a:latin typeface="Aptos"/>
              </a:defRPr>
            </a:pPr>
            <a:r>
              <a:t>Auto-tagging • Classification • Entity extraction • SDG / region / country mapping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3666744"/>
            <a:ext cx="5440680" cy="960120"/>
          </a:xfrm>
          <a:prstGeom prst="roundRect">
            <a:avLst/>
          </a:prstGeom>
          <a:solidFill>
            <a:srgbClr val="E1F0F9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Citation Intelligence</a:t>
            </a:r>
          </a:p>
          <a:p>
            <a:pPr>
              <a:spcBef>
                <a:spcPts val="500"/>
              </a:spcBef>
              <a:defRPr sz="1019">
                <a:solidFill>
                  <a:srgbClr val="191E23"/>
                </a:solidFill>
                <a:latin typeface="Aptos"/>
              </a:defRPr>
            </a:pPr>
            <a:r>
              <a:t>Citation validation • Reference completeness • Hallucination detection • Source credibility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4837176"/>
            <a:ext cx="5440680" cy="960120"/>
          </a:xfrm>
          <a:prstGeom prst="roundRect">
            <a:avLst/>
          </a:prstGeom>
          <a:solidFill>
            <a:srgbClr val="F3F5F7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Multilingual Knowledge Access</a:t>
            </a:r>
          </a:p>
          <a:p>
            <a:pPr>
              <a:spcBef>
                <a:spcPts val="500"/>
              </a:spcBef>
              <a:defRPr sz="1019">
                <a:solidFill>
                  <a:srgbClr val="191E23"/>
                </a:solidFill>
                <a:latin typeface="Aptos"/>
              </a:defRPr>
            </a:pPr>
            <a:r>
              <a:t>Translation • Multilingual search • Cross-language retrieval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59" y="4837176"/>
            <a:ext cx="5440680" cy="960120"/>
          </a:xfrm>
          <a:prstGeom prst="roundRect">
            <a:avLst/>
          </a:prstGeom>
          <a:solidFill>
            <a:srgbClr val="E1F0F9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AI Chatbot</a:t>
            </a:r>
          </a:p>
          <a:p>
            <a:pPr>
              <a:spcBef>
                <a:spcPts val="500"/>
              </a:spcBef>
              <a:defRPr sz="1019">
                <a:solidFill>
                  <a:srgbClr val="191E23"/>
                </a:solidFill>
                <a:latin typeface="Aptos"/>
              </a:defRPr>
            </a:pPr>
            <a:r>
              <a:t>Country briefs • Sector snapshots • Knowledge packs • Executive talking points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82046"/>
                </a:solidFill>
                <a:latin typeface="Aptos"/>
              </a:defRPr>
            </a:pPr>
            <a:r>
              <a:t>Governance, trust &amp; feedback are architectural layers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32004"/>
          </a:xfrm>
          <a:prstGeom prst="rect">
            <a:avLst/>
          </a:prstGeom>
          <a:solidFill>
            <a:srgbClr val="149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  <a:latin typeface="Aptos"/>
              </a:defRPr>
            </a:pPr>
            <a:r>
              <a:t>AI at Scale — based on the provided World Bank Group presentation (Aug. 17,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2423160"/>
            <a:ext cx="2971800" cy="914400"/>
          </a:xfrm>
          <a:prstGeom prst="roundRect">
            <a:avLst/>
          </a:prstGeom>
          <a:solidFill>
            <a:srgbClr val="E1F0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82046"/>
                </a:solidFill>
                <a:latin typeface="Aptos"/>
              </a:defRPr>
            </a:pPr>
            <a:r>
              <a:t>AI SYSTEM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1325880"/>
            <a:ext cx="2194560" cy="777240"/>
          </a:xfrm>
          <a:prstGeom prst="roundRect">
            <a:avLst/>
          </a:prstGeom>
          <a:solidFill>
            <a:srgbClr val="F3F5F7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2046"/>
                </a:solidFill>
                <a:latin typeface="Aptos"/>
              </a:defRPr>
            </a:pPr>
            <a:r>
              <a:t>Access &amp; RBAC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069080"/>
            <a:ext cx="2194560" cy="777240"/>
          </a:xfrm>
          <a:prstGeom prst="roundRect">
            <a:avLst/>
          </a:prstGeom>
          <a:solidFill>
            <a:srgbClr val="F3F5F7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2046"/>
                </a:solidFill>
                <a:latin typeface="Aptos"/>
              </a:defRPr>
            </a:pPr>
            <a:r>
              <a:t>Privacy / PII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325880"/>
            <a:ext cx="2194560" cy="777240"/>
          </a:xfrm>
          <a:prstGeom prst="roundRect">
            <a:avLst/>
          </a:prstGeom>
          <a:solidFill>
            <a:srgbClr val="EEE8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2046"/>
                </a:solidFill>
                <a:latin typeface="Aptos"/>
              </a:defRPr>
            </a:pPr>
            <a:r>
              <a:t>Audit &amp; provenance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4069080"/>
            <a:ext cx="2194560" cy="777240"/>
          </a:xfrm>
          <a:prstGeom prst="roundRect">
            <a:avLst/>
          </a:prstGeom>
          <a:solidFill>
            <a:srgbClr val="E8F4E1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2046"/>
                </a:solidFill>
                <a:latin typeface="Aptos"/>
              </a:defRPr>
            </a:pPr>
            <a:r>
              <a:t>Evaluation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08960" y="1737360"/>
            <a:ext cx="1463040" cy="868680"/>
          </a:xfrm>
          <a:prstGeom prst="line">
            <a:avLst/>
          </a:prstGeom>
          <a:ln w="1651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3108960" y="3108960"/>
            <a:ext cx="1463040" cy="1325880"/>
          </a:xfrm>
          <a:prstGeom prst="line">
            <a:avLst/>
          </a:prstGeom>
          <a:ln w="1651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7543800" y="1737360"/>
            <a:ext cx="1417320" cy="868680"/>
          </a:xfrm>
          <a:prstGeom prst="line">
            <a:avLst/>
          </a:prstGeom>
          <a:ln w="1651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543800" y="3108960"/>
            <a:ext cx="1417320" cy="1325880"/>
          </a:xfrm>
          <a:prstGeom prst="line">
            <a:avLst/>
          </a:prstGeom>
          <a:ln w="16510">
            <a:solidFill>
              <a:srgbClr val="5A62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617720" y="4251960"/>
            <a:ext cx="2880360" cy="777240"/>
          </a:xfrm>
          <a:prstGeom prst="roundRect">
            <a:avLst/>
          </a:prstGeom>
          <a:solidFill>
            <a:srgbClr val="E1F6F4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046"/>
                </a:solidFill>
                <a:latin typeface="Aptos"/>
              </a:defRPr>
            </a:pPr>
            <a:r>
              <a:t>HUMAN-IN-THE-LOOP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6080760" y="3364992"/>
            <a:ext cx="0" cy="886968"/>
          </a:xfrm>
          <a:prstGeom prst="line">
            <a:avLst/>
          </a:prstGeom>
          <a:ln w="1905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5486400"/>
            <a:ext cx="10332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Feedback → telemetry → quality scoring → model evaluation → human review → refinement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82046"/>
                </a:solidFill>
                <a:latin typeface="Aptos"/>
              </a:defRPr>
            </a:pPr>
            <a:r>
              <a:t>A practical AI Readiness Engine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32004"/>
          </a:xfrm>
          <a:prstGeom prst="rect">
            <a:avLst/>
          </a:prstGeom>
          <a:solidFill>
            <a:srgbClr val="149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  <a:latin typeface="Aptos"/>
              </a:defRPr>
            </a:pPr>
            <a:r>
              <a:t>AI at Scale — based on the provided World Bank Group presentation (Aug. 17,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ptos"/>
              </a:defRPr>
            </a:pPr>
            <a: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325880"/>
            <a:ext cx="1828800" cy="731520"/>
          </a:xfrm>
          <a:prstGeom prst="roundRect">
            <a:avLst/>
          </a:prstGeom>
          <a:solidFill>
            <a:srgbClr val="F3F5F7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ASSET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14600" y="1691640"/>
            <a:ext cx="365760" cy="0"/>
          </a:xfrm>
          <a:prstGeom prst="line">
            <a:avLst/>
          </a:prstGeom>
          <a:ln w="2540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26080" y="1325880"/>
            <a:ext cx="2194560" cy="731520"/>
          </a:xfrm>
          <a:prstGeom prst="roundRect">
            <a:avLst/>
          </a:prstGeom>
          <a:solidFill>
            <a:srgbClr val="E1F0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PROFILING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212080" y="1691640"/>
            <a:ext cx="365760" cy="0"/>
          </a:xfrm>
          <a:prstGeom prst="line">
            <a:avLst/>
          </a:prstGeom>
          <a:ln w="2540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623560" y="1325880"/>
            <a:ext cx="2194560" cy="731520"/>
          </a:xfrm>
          <a:prstGeom prst="roundRect">
            <a:avLst/>
          </a:prstGeom>
          <a:solidFill>
            <a:srgbClr val="E1F6F4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AI ANALYSIS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909560" y="1691640"/>
            <a:ext cx="365760" cy="0"/>
          </a:xfrm>
          <a:prstGeom prst="line">
            <a:avLst/>
          </a:prstGeom>
          <a:ln w="2540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8321040" y="1325880"/>
            <a:ext cx="2743200" cy="731520"/>
          </a:xfrm>
          <a:prstGeom prst="roundRect">
            <a:avLst/>
          </a:prstGeom>
          <a:solidFill>
            <a:srgbClr val="E8F4E1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READINESS REPORT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560320"/>
            <a:ext cx="20116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Metadata completeness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2560320"/>
            <a:ext cx="20116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Data quality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120640" y="2560320"/>
            <a:ext cx="20116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Documentation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2560320"/>
            <a:ext cx="20116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Ownership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2560320"/>
            <a:ext cx="20116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Access rights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3520439"/>
            <a:ext cx="20116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Lineage / provenance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880360" y="3520439"/>
            <a:ext cx="20116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Semantic richness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20640" y="3520439"/>
            <a:ext cx="20116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Embedding suitability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0920" y="3520439"/>
            <a:ext cx="20116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PII / sensitivity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3520439"/>
            <a:ext cx="2011680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Licensing / governance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926080" y="4800600"/>
            <a:ext cx="2468880" cy="777240"/>
          </a:xfrm>
          <a:prstGeom prst="roundRect">
            <a:avLst/>
          </a:prstGeom>
          <a:solidFill>
            <a:srgbClr val="EEE8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046"/>
                </a:solidFill>
                <a:latin typeface="Aptos"/>
              </a:defRPr>
            </a:pPr>
            <a:r>
              <a:t>Score + 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40" y="4800600"/>
            <a:ext cx="2468880" cy="777240"/>
          </a:xfrm>
          <a:prstGeom prst="roundRect">
            <a:avLst/>
          </a:prstGeom>
          <a:solidFill>
            <a:srgbClr val="F3F5F7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046"/>
                </a:solidFill>
                <a:latin typeface="Aptos"/>
              </a:defRPr>
            </a:pPr>
            <a:r>
              <a:t>Gaps / risks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4800600"/>
            <a:ext cx="2468880" cy="777240"/>
          </a:xfrm>
          <a:prstGeom prst="roundRect">
            <a:avLst/>
          </a:prstGeom>
          <a:solidFill>
            <a:srgbClr val="E8F4E1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046"/>
                </a:solidFill>
                <a:latin typeface="Aptos"/>
              </a:defRPr>
            </a:pPr>
            <a:r>
              <a:t>Recommendations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806440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50">
                <a:solidFill>
                  <a:srgbClr val="5A626C"/>
                </a:solidFill>
                <a:latin typeface="Aptos"/>
              </a:defRPr>
            </a:pPr>
            <a:r>
              <a:t>Important: the exact scoring formula should be defined as an implementation choice; the source establishes AI-readiness assessment and scoring as a capability.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82046"/>
                </a:solidFill>
                <a:latin typeface="Aptos"/>
              </a:defRPr>
            </a:pPr>
            <a:r>
              <a:t>Putting it together — reference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32004"/>
          </a:xfrm>
          <a:prstGeom prst="rect">
            <a:avLst/>
          </a:prstGeom>
          <a:solidFill>
            <a:srgbClr val="149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  <a:latin typeface="Aptos"/>
              </a:defRPr>
            </a:pPr>
            <a:r>
              <a:t>AI at Scale — based on the provided World Bank Group presentation (Aug. 17,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97280"/>
            <a:ext cx="2651760" cy="594360"/>
          </a:xfrm>
          <a:prstGeom prst="roundRect">
            <a:avLst/>
          </a:prstGeom>
          <a:solidFill>
            <a:srgbClr val="E8F4E1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82046"/>
                </a:solidFill>
                <a:latin typeface="Aptos"/>
              </a:defRPr>
            </a:pPr>
            <a:r>
              <a:t>USERS / PRODUCTS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1691640"/>
            <a:ext cx="0" cy="274320"/>
          </a:xfrm>
          <a:prstGeom prst="line">
            <a:avLst/>
          </a:prstGeom>
          <a:ln w="2540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794760" y="2011680"/>
            <a:ext cx="4572000" cy="658368"/>
          </a:xfrm>
          <a:prstGeom prst="roundRect">
            <a:avLst/>
          </a:prstGeom>
          <a:solidFill>
            <a:srgbClr val="E8F4E1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046"/>
                </a:solidFill>
                <a:latin typeface="Aptos"/>
              </a:defRPr>
            </a:pPr>
            <a:r>
              <a:t>AI EXPERIENCE LAYER</a:t>
            </a:r>
            <a:br/>
            <a:r>
              <a:t>Search • Copilot • Agent • Workbench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080760" y="2670048"/>
            <a:ext cx="0" cy="256032"/>
          </a:xfrm>
          <a:prstGeom prst="line">
            <a:avLst/>
          </a:prstGeom>
          <a:ln w="2540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29000" y="2971800"/>
            <a:ext cx="5303520" cy="658368"/>
          </a:xfrm>
          <a:prstGeom prst="roundRect">
            <a:avLst/>
          </a:prstGeom>
          <a:solidFill>
            <a:srgbClr val="EEE8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046"/>
                </a:solidFill>
                <a:latin typeface="Aptos"/>
              </a:defRPr>
            </a:pPr>
            <a:r>
              <a:t>AI CAPABILITIES</a:t>
            </a:r>
            <a:br/>
            <a:r>
              <a:t>LLM • RAG • Semantic Search • KG • Evaluation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80760" y="3630168"/>
            <a:ext cx="0" cy="256032"/>
          </a:xfrm>
          <a:prstGeom prst="line">
            <a:avLst/>
          </a:prstGeom>
          <a:ln w="2540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154680" y="3931920"/>
            <a:ext cx="5852160" cy="658368"/>
          </a:xfrm>
          <a:prstGeom prst="roundRect">
            <a:avLst/>
          </a:prstGeom>
          <a:solidFill>
            <a:srgbClr val="E1F6F4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046"/>
                </a:solidFill>
                <a:latin typeface="Aptos"/>
              </a:defRPr>
            </a:pPr>
            <a:r>
              <a:t>INTEGRATION BACKBONE</a:t>
            </a:r>
            <a:br/>
            <a:r>
              <a:t>MCP • APIs • Events • Connectors • Orchestration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80760" y="4590288"/>
            <a:ext cx="0" cy="256032"/>
          </a:xfrm>
          <a:prstGeom prst="line">
            <a:avLst/>
          </a:prstGeom>
          <a:ln w="25400">
            <a:solidFill>
              <a:srgbClr val="149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14600" y="4892040"/>
            <a:ext cx="7132320" cy="658368"/>
          </a:xfrm>
          <a:prstGeom prst="roundRect">
            <a:avLst/>
          </a:prstGeom>
          <a:solidFill>
            <a:srgbClr val="E1F0F9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82046"/>
                </a:solidFill>
                <a:latin typeface="Aptos"/>
              </a:defRPr>
            </a:pPr>
            <a:r>
              <a:t>AI-READY DATA</a:t>
            </a:r>
            <a:br/>
            <a:r>
              <a:t>Structured • Unstructured • Metadata • Ontology • Lineage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1480" y="1920240"/>
            <a:ext cx="1600200" cy="3566160"/>
          </a:xfrm>
          <a:prstGeom prst="roundRect">
            <a:avLst/>
          </a:prstGeom>
          <a:solidFill>
            <a:srgbClr val="F3F5F7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2046"/>
                </a:solidFill>
                <a:latin typeface="Aptos"/>
              </a:defRPr>
            </a:pPr>
            <a:r>
              <a:t>GOVERNANCE</a:t>
            </a:r>
            <a:br/>
            <a:br/>
            <a:r>
              <a:t>Access</a:t>
            </a:r>
            <a:br/>
            <a:r>
              <a:t>Privacy</a:t>
            </a:r>
            <a:br/>
            <a:r>
              <a:t>Risk</a:t>
            </a:r>
            <a:br/>
            <a:r>
              <a:t>Trust</a:t>
            </a:r>
            <a:br/>
            <a:r>
              <a:t>Compliance</a:t>
            </a:r>
            <a:br/>
            <a:r>
              <a:t>Audit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195560" y="1920240"/>
            <a:ext cx="1554480" cy="3566160"/>
          </a:xfrm>
          <a:prstGeom prst="roundRect">
            <a:avLst/>
          </a:prstGeom>
          <a:solidFill>
            <a:srgbClr val="F3F5F7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82046"/>
                </a:solidFill>
                <a:latin typeface="Aptos"/>
              </a:defRPr>
            </a:pPr>
            <a:r>
              <a:t>FEEDBACK</a:t>
            </a:r>
            <a:br/>
            <a:br/>
            <a:r>
              <a:t>Telemetry</a:t>
            </a:r>
            <a:br/>
            <a:r>
              <a:t>Quality</a:t>
            </a:r>
            <a:br/>
            <a:r>
              <a:t>Evaluation</a:t>
            </a:r>
            <a:br/>
            <a:r>
              <a:t>HITL</a:t>
            </a:r>
            <a:br/>
            <a:r>
              <a:t>Refinement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82046"/>
                </a:solidFill>
                <a:latin typeface="Aptos"/>
              </a:defRPr>
            </a:pPr>
            <a:r>
              <a:t>How AI can be integrated incrementally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155680" cy="32004"/>
          </a:xfrm>
          <a:prstGeom prst="rect">
            <a:avLst/>
          </a:prstGeom>
          <a:solidFill>
            <a:srgbClr val="149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  <a:latin typeface="Aptos"/>
              </a:defRPr>
            </a:pPr>
            <a:r>
              <a:t>AI at Scale — based on the provided World Bank Group presentation (Aug. 17, 2026)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ptos"/>
              </a:defRPr>
            </a:pPr>
            <a:r>
              <a:t>19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25880"/>
            <a:ext cx="3520440" cy="1783080"/>
          </a:xfrm>
          <a:prstGeom prst="roundRect">
            <a:avLst/>
          </a:prstGeom>
          <a:solidFill>
            <a:srgbClr val="E1F0F9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Phase 1: AI Readiness</a:t>
            </a:r>
          </a:p>
          <a:p>
            <a:pPr>
              <a:spcBef>
                <a:spcPts val="500"/>
              </a:spcBef>
              <a:defRPr sz="1250">
                <a:solidFill>
                  <a:srgbClr val="191E23"/>
                </a:solidFill>
                <a:latin typeface="Aptos"/>
              </a:defRPr>
            </a:pPr>
            <a:r>
              <a:t>Profile assets • metadata • quality • ownership • access • readiness signals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325880"/>
            <a:ext cx="3520440" cy="1783080"/>
          </a:xfrm>
          <a:prstGeom prst="roundRect">
            <a:avLst/>
          </a:prstGeom>
          <a:solidFill>
            <a:srgbClr val="E1F6F4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Phase 2: AI Enrichment</a:t>
            </a:r>
          </a:p>
          <a:p>
            <a:pPr>
              <a:spcBef>
                <a:spcPts val="500"/>
              </a:spcBef>
              <a:defRPr sz="1250">
                <a:solidFill>
                  <a:srgbClr val="191E23"/>
                </a:solidFill>
                <a:latin typeface="Aptos"/>
              </a:defRPr>
            </a:pPr>
            <a:r>
              <a:t>Auto-tagging • classification • entity extraction • summaries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83880" y="1325880"/>
            <a:ext cx="3520440" cy="1783080"/>
          </a:xfrm>
          <a:prstGeom prst="roundRect">
            <a:avLst/>
          </a:prstGeom>
          <a:solidFill>
            <a:srgbClr val="EEE8F9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Phase 3: Knowledge</a:t>
            </a:r>
          </a:p>
          <a:p>
            <a:pPr>
              <a:spcBef>
                <a:spcPts val="500"/>
              </a:spcBef>
              <a:defRPr sz="1250">
                <a:solidFill>
                  <a:srgbClr val="191E23"/>
                </a:solidFill>
                <a:latin typeface="Aptos"/>
              </a:defRPr>
            </a:pPr>
            <a:r>
              <a:t>Ontology • semantic layer • Knowledge Graph • lineage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474720"/>
            <a:ext cx="3520440" cy="1783080"/>
          </a:xfrm>
          <a:prstGeom prst="roundRect">
            <a:avLst/>
          </a:prstGeom>
          <a:solidFill>
            <a:srgbClr val="E1F0F9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Phase 4: Retrieval</a:t>
            </a:r>
          </a:p>
          <a:p>
            <a:pPr>
              <a:spcBef>
                <a:spcPts val="500"/>
              </a:spcBef>
              <a:defRPr sz="1250">
                <a:solidFill>
                  <a:srgbClr val="191E23"/>
                </a:solidFill>
                <a:latin typeface="Aptos"/>
              </a:defRPr>
            </a:pPr>
            <a:r>
              <a:t>Embeddings • vector search • RAG • citations • access-aware retrieval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474720"/>
            <a:ext cx="3520440" cy="1783080"/>
          </a:xfrm>
          <a:prstGeom prst="roundRect">
            <a:avLst/>
          </a:prstGeom>
          <a:solidFill>
            <a:srgbClr val="E8F4E1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Phase 5: Integration</a:t>
            </a:r>
          </a:p>
          <a:p>
            <a:pPr>
              <a:spcBef>
                <a:spcPts val="500"/>
              </a:spcBef>
              <a:defRPr sz="1250">
                <a:solidFill>
                  <a:srgbClr val="191E23"/>
                </a:solidFill>
                <a:latin typeface="Aptos"/>
              </a:defRPr>
            </a:pPr>
            <a:r>
              <a:t>MCP • APIs • connectors • governed tool access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3474720"/>
            <a:ext cx="3520440" cy="1783080"/>
          </a:xfrm>
          <a:prstGeom prst="roundRect">
            <a:avLst/>
          </a:prstGeom>
          <a:solidFill>
            <a:srgbClr val="E8F4E1"/>
          </a:solidFill>
          <a:ln w="10160"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46304" rIns="109728" tIns="109728"/>
          <a:lstStyle/>
          <a:p>
            <a:pPr algn="ctr">
              <a:defRPr sz="1500" b="1">
                <a:solidFill>
                  <a:srgbClr val="082046"/>
                </a:solidFill>
                <a:latin typeface="Aptos"/>
              </a:defRPr>
            </a:pPr>
            <a:r>
              <a:t>Phase 6: Agents</a:t>
            </a:r>
          </a:p>
          <a:p>
            <a:pPr>
              <a:spcBef>
                <a:spcPts val="500"/>
              </a:spcBef>
              <a:defRPr sz="1250">
                <a:solidFill>
                  <a:srgbClr val="191E23"/>
                </a:solidFill>
                <a:latin typeface="Aptos"/>
              </a:defRPr>
            </a:pPr>
            <a:r>
              <a:t>Copilots • agentic workbenches • workflow orchestration • multi-agent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06440"/>
            <a:ext cx="102412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082046"/>
                </a:solidFill>
                <a:latin typeface="Aptos"/>
              </a:defRPr>
            </a:pPr>
            <a:r>
              <a:t>This sequence follows the source's overall direction: Foundations → Connected Intelligence → AI-Enabled Experiences → Governed AI at Scale.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20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80467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D7E1EE"/>
                </a:solidFill>
                <a:latin typeface="Aptos"/>
              </a:defRPr>
            </a:pPr>
            <a:r>
              <a:t>What to remember from the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32004"/>
          </a:xfrm>
          <a:prstGeom prst="rect">
            <a:avLst/>
          </a:prstGeom>
          <a:solidFill>
            <a:srgbClr val="149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6473952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5A626C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0972800" y="6437376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626C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371600"/>
            <a:ext cx="502920" cy="438912"/>
          </a:xfrm>
          <a:prstGeom prst="roundRect">
            <a:avLst/>
          </a:prstGeom>
          <a:solidFill>
            <a:srgbClr val="14919A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353312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Aptos"/>
              </a:defRPr>
            </a:pPr>
            <a:r>
              <a:t>AI at Scale is a platform/capability strategy, not a single AI app.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084832"/>
            <a:ext cx="502920" cy="438912"/>
          </a:xfrm>
          <a:prstGeom prst="roundRect">
            <a:avLst/>
          </a:prstGeom>
          <a:solidFill>
            <a:srgbClr val="14919A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066544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Aptos"/>
              </a:defRPr>
            </a:pPr>
            <a:r>
              <a:t>AI-ready data is the foundation: quality + metadata + context + governance.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2798064"/>
            <a:ext cx="502920" cy="438912"/>
          </a:xfrm>
          <a:prstGeom prst="roundRect">
            <a:avLst/>
          </a:prstGeom>
          <a:solidFill>
            <a:srgbClr val="14919A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779776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Aptos"/>
              </a:defRPr>
            </a:pPr>
            <a:r>
              <a:t>Semantic layer + Knowledge Graph provide enterprise meaning and relationships.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511296"/>
            <a:ext cx="502920" cy="438912"/>
          </a:xfrm>
          <a:prstGeom prst="roundRect">
            <a:avLst/>
          </a:prstGeom>
          <a:solidFill>
            <a:srgbClr val="14919A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493008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Aptos"/>
              </a:defRPr>
            </a:pPr>
            <a:r>
              <a:t>Vector search + RAG provide grounded retrieval over unstructured knowledge.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224528"/>
            <a:ext cx="502920" cy="438912"/>
          </a:xfrm>
          <a:prstGeom prst="roundRect">
            <a:avLst/>
          </a:prstGeom>
          <a:solidFill>
            <a:srgbClr val="14919A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206240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Aptos"/>
              </a:defRPr>
            </a:pPr>
            <a:r>
              <a:t>MCP/API integration gives agents governed access to enterprise capabilities.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937760"/>
            <a:ext cx="502920" cy="438912"/>
          </a:xfrm>
          <a:prstGeom prst="roundRect">
            <a:avLst/>
          </a:prstGeom>
          <a:solidFill>
            <a:srgbClr val="14919A"/>
          </a:solidFill>
          <a:ln>
            <a:solidFill>
              <a:srgbClr val="D2D8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919472"/>
            <a:ext cx="96012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  <a:latin typeface="Aptos"/>
              </a:defRPr>
            </a:pPr>
            <a:r>
              <a:t>Evaluation, feedback, HITL, access and governance must be built into the lifecycle.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